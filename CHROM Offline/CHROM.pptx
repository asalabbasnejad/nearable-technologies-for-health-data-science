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5" r:id="rId4"/>
    <p:sldId id="286" r:id="rId5"/>
    <p:sldId id="260" r:id="rId6"/>
    <p:sldId id="272" r:id="rId7"/>
    <p:sldId id="261" r:id="rId8"/>
    <p:sldId id="270" r:id="rId9"/>
    <p:sldId id="287" r:id="rId10"/>
    <p:sldId id="282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660"/>
  </p:normalViewPr>
  <p:slideViewPr>
    <p:cSldViewPr>
      <p:cViewPr varScale="1">
        <p:scale>
          <a:sx n="78" d="100"/>
          <a:sy n="78" d="100"/>
        </p:scale>
        <p:origin x="103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71426-98E2-4D8E-A72C-10532739D392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04E49D-8D1F-4B74-BC12-FB031AE59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918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4E49D-8D1F-4B74-BC12-FB031AE59D3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77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49139" y="2512567"/>
            <a:ext cx="2180463" cy="66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7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20040" y="6537959"/>
            <a:ext cx="11567160" cy="0"/>
          </a:xfrm>
          <a:custGeom>
            <a:avLst/>
            <a:gdLst/>
            <a:ahLst/>
            <a:cxnLst/>
            <a:rect l="l" t="t" r="r" b="b"/>
            <a:pathLst>
              <a:path w="11567160">
                <a:moveTo>
                  <a:pt x="0" y="0"/>
                </a:moveTo>
                <a:lnTo>
                  <a:pt x="11567160" y="0"/>
                </a:lnTo>
              </a:path>
            </a:pathLst>
          </a:custGeom>
          <a:ln w="6350">
            <a:solidFill>
              <a:srgbClr val="CAD4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7535" y="576453"/>
            <a:ext cx="8046084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0E172A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8779" y="6585756"/>
            <a:ext cx="1499870" cy="12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3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3748A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98650" y="2195830"/>
            <a:ext cx="8206104" cy="76495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b="1" spc="130" dirty="0">
                <a:latin typeface="Calibri"/>
                <a:cs typeface="Calibri"/>
              </a:rPr>
              <a:t>Real-</a:t>
            </a:r>
            <a:r>
              <a:rPr sz="3200" b="1" spc="110" dirty="0">
                <a:latin typeface="Calibri"/>
                <a:cs typeface="Calibri"/>
              </a:rPr>
              <a:t>Time</a:t>
            </a:r>
            <a:r>
              <a:rPr sz="3200" b="1" spc="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Motion-</a:t>
            </a:r>
            <a:r>
              <a:rPr sz="3200" b="1" spc="145" dirty="0">
                <a:latin typeface="Calibri"/>
                <a:cs typeface="Calibri"/>
              </a:rPr>
              <a:t>Resilient</a:t>
            </a:r>
            <a:r>
              <a:rPr sz="3200" b="1" spc="95" dirty="0">
                <a:latin typeface="Calibri"/>
                <a:cs typeface="Calibri"/>
              </a:rPr>
              <a:t> </a:t>
            </a:r>
            <a:r>
              <a:rPr sz="3200" b="1" spc="170" dirty="0" err="1">
                <a:latin typeface="Calibri"/>
                <a:cs typeface="Calibri"/>
              </a:rPr>
              <a:t>rPPG</a:t>
            </a:r>
            <a:endParaRPr lang="en-US" sz="3200" b="1" spc="170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600" dirty="0"/>
              <a:t>Comparative Evaluation of Green, POS and CHROM </a:t>
            </a:r>
            <a:r>
              <a:rPr lang="en-US" sz="1600" dirty="0" err="1"/>
              <a:t>rPPG</a:t>
            </a:r>
            <a:r>
              <a:rPr lang="en-US" sz="1600" dirty="0"/>
              <a:t> Algorithms</a:t>
            </a:r>
            <a:endParaRPr sz="1600" b="1" dirty="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596121" y="640841"/>
            <a:ext cx="2560320" cy="0"/>
          </a:xfrm>
          <a:custGeom>
            <a:avLst/>
            <a:gdLst/>
            <a:ahLst/>
            <a:cxnLst/>
            <a:rect l="l" t="t" r="r" b="b"/>
            <a:pathLst>
              <a:path w="2560320">
                <a:moveTo>
                  <a:pt x="0" y="0"/>
                </a:moveTo>
                <a:lnTo>
                  <a:pt x="2560320" y="0"/>
                </a:lnTo>
              </a:path>
            </a:pathLst>
          </a:custGeom>
          <a:ln w="38100">
            <a:solidFill>
              <a:srgbClr val="38BC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27642" y="5715761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>
                <a:moveTo>
                  <a:pt x="0" y="0"/>
                </a:moveTo>
                <a:lnTo>
                  <a:pt x="1645919" y="0"/>
                </a:lnTo>
              </a:path>
            </a:pathLst>
          </a:custGeom>
          <a:ln w="31750">
            <a:solidFill>
              <a:srgbClr val="2CD3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61517" y="5020716"/>
            <a:ext cx="1901825" cy="63844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endParaRPr sz="1400" dirty="0">
              <a:latin typeface="Calibri"/>
              <a:cs typeface="Calibri"/>
            </a:endParaRPr>
          </a:p>
          <a:p>
            <a:pPr marL="27305" marR="5080" indent="12065">
              <a:lnSpc>
                <a:spcPct val="140200"/>
              </a:lnSpc>
              <a:spcBef>
                <a:spcPts val="190"/>
              </a:spcBef>
            </a:pPr>
            <a:r>
              <a:rPr sz="1400" spc="60" dirty="0">
                <a:solidFill>
                  <a:srgbClr val="3E3E3E"/>
                </a:solidFill>
                <a:latin typeface="Calibri"/>
                <a:cs typeface="Calibri"/>
              </a:rPr>
              <a:t>Asal</a:t>
            </a:r>
            <a:r>
              <a:rPr sz="1400" spc="3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60" dirty="0">
                <a:solidFill>
                  <a:srgbClr val="3E3E3E"/>
                </a:solidFill>
                <a:latin typeface="Calibri"/>
                <a:cs typeface="Calibri"/>
              </a:rPr>
              <a:t>Abbas</a:t>
            </a:r>
            <a:r>
              <a:rPr sz="1400" spc="40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E3E3E"/>
                </a:solidFill>
                <a:latin typeface="Calibri"/>
                <a:cs typeface="Calibri"/>
              </a:rPr>
              <a:t>Nejad</a:t>
            </a:r>
            <a:r>
              <a:rPr sz="1400" spc="45" dirty="0">
                <a:solidFill>
                  <a:srgbClr val="3E3E3E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E3E3E"/>
                </a:solidFill>
                <a:latin typeface="Calibri"/>
                <a:cs typeface="Calibri"/>
              </a:rPr>
              <a:t>Fard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7000" y="5319965"/>
            <a:ext cx="781685" cy="678391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400" spc="-10" dirty="0">
                <a:solidFill>
                  <a:srgbClr val="3E3E3E"/>
                </a:solidFill>
                <a:latin typeface="Calibri"/>
                <a:cs typeface="Calibri"/>
              </a:rPr>
              <a:t>10974178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endParaRPr sz="1400" dirty="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147" y="257826"/>
            <a:ext cx="2349461" cy="6883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037714" y="1372615"/>
            <a:ext cx="806704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75" dirty="0">
                <a:solidFill>
                  <a:srgbClr val="736E6E"/>
                </a:solidFill>
              </a:rPr>
              <a:t>Laboratory</a:t>
            </a:r>
            <a:r>
              <a:rPr sz="2300" spc="-45" dirty="0">
                <a:solidFill>
                  <a:srgbClr val="736E6E"/>
                </a:solidFill>
              </a:rPr>
              <a:t> </a:t>
            </a:r>
            <a:r>
              <a:rPr sz="2300" spc="55" dirty="0">
                <a:solidFill>
                  <a:srgbClr val="736E6E"/>
                </a:solidFill>
              </a:rPr>
              <a:t>of</a:t>
            </a:r>
            <a:r>
              <a:rPr sz="2300" spc="-35" dirty="0">
                <a:solidFill>
                  <a:srgbClr val="736E6E"/>
                </a:solidFill>
              </a:rPr>
              <a:t> </a:t>
            </a:r>
            <a:r>
              <a:rPr sz="2300" spc="100" dirty="0">
                <a:solidFill>
                  <a:srgbClr val="736E6E"/>
                </a:solidFill>
              </a:rPr>
              <a:t>Nearable</a:t>
            </a:r>
            <a:r>
              <a:rPr sz="2300" spc="-50" dirty="0">
                <a:solidFill>
                  <a:srgbClr val="736E6E"/>
                </a:solidFill>
              </a:rPr>
              <a:t> </a:t>
            </a:r>
            <a:r>
              <a:rPr sz="2300" spc="95" dirty="0">
                <a:solidFill>
                  <a:srgbClr val="736E6E"/>
                </a:solidFill>
              </a:rPr>
              <a:t>Technologies</a:t>
            </a:r>
            <a:r>
              <a:rPr sz="2300" spc="-60" dirty="0">
                <a:solidFill>
                  <a:srgbClr val="736E6E"/>
                </a:solidFill>
              </a:rPr>
              <a:t> </a:t>
            </a:r>
            <a:r>
              <a:rPr sz="2300" dirty="0">
                <a:solidFill>
                  <a:srgbClr val="736E6E"/>
                </a:solidFill>
              </a:rPr>
              <a:t>for</a:t>
            </a:r>
            <a:r>
              <a:rPr sz="2300" spc="-30" dirty="0">
                <a:solidFill>
                  <a:srgbClr val="736E6E"/>
                </a:solidFill>
              </a:rPr>
              <a:t> </a:t>
            </a:r>
            <a:r>
              <a:rPr sz="2300" spc="110" dirty="0">
                <a:solidFill>
                  <a:srgbClr val="736E6E"/>
                </a:solidFill>
              </a:rPr>
              <a:t>Health</a:t>
            </a:r>
            <a:r>
              <a:rPr sz="2300" spc="-45" dirty="0">
                <a:solidFill>
                  <a:srgbClr val="736E6E"/>
                </a:solidFill>
              </a:rPr>
              <a:t> </a:t>
            </a:r>
            <a:r>
              <a:rPr sz="2300" spc="100" dirty="0">
                <a:solidFill>
                  <a:srgbClr val="736E6E"/>
                </a:solidFill>
              </a:rPr>
              <a:t>Data</a:t>
            </a:r>
            <a:r>
              <a:rPr sz="2300" spc="-20" dirty="0">
                <a:solidFill>
                  <a:srgbClr val="736E6E"/>
                </a:solidFill>
              </a:rPr>
              <a:t> </a:t>
            </a:r>
            <a:r>
              <a:rPr sz="2300" spc="160" dirty="0">
                <a:solidFill>
                  <a:srgbClr val="736E6E"/>
                </a:solidFill>
              </a:rPr>
              <a:t>Science</a:t>
            </a:r>
            <a:endParaRPr sz="23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872341" y="6593444"/>
            <a:ext cx="73025" cy="1333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700" spc="-50" dirty="0">
                <a:solidFill>
                  <a:srgbClr val="63748A"/>
                </a:solidFill>
                <a:latin typeface="Calibri"/>
                <a:cs typeface="Calibri"/>
              </a:rPr>
              <a:t>1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68188" y="6115608"/>
            <a:ext cx="846455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latin typeface="Calibri"/>
                <a:cs typeface="Calibri"/>
              </a:rPr>
              <a:t>July</a:t>
            </a:r>
            <a:r>
              <a:rPr sz="1500" spc="90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2026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73117" y="3126105"/>
            <a:ext cx="3439795" cy="1257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2000" b="1" spc="85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1" spc="85" dirty="0">
                <a:latin typeface="Calibri"/>
                <a:cs typeface="Calibri"/>
              </a:rPr>
              <a:t>Supervisors: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Andrea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Moglia</a:t>
            </a:r>
            <a:endParaRPr sz="20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Marco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0" dirty="0">
                <a:latin typeface="Calibri"/>
                <a:cs typeface="Calibri"/>
              </a:rPr>
              <a:t>Brando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Mario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55" dirty="0">
                <a:latin typeface="Calibri"/>
                <a:cs typeface="Calibri"/>
              </a:rPr>
              <a:t>Paracchini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7303" y="652398"/>
            <a:ext cx="679132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dirty="0"/>
              <a:t>Project Pipeline 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1604339" y="4591568"/>
            <a:ext cx="95521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b="1" dirty="0"/>
              <a:t>Only the </a:t>
            </a:r>
            <a:r>
              <a:rPr lang="en-US" sz="1600" b="1" dirty="0" err="1"/>
              <a:t>rPPG</a:t>
            </a:r>
            <a:r>
              <a:rPr lang="en-US" sz="1600" b="1" dirty="0"/>
              <a:t> signal extraction method changes (Green, POS or CHROM); all preprocessing, HR estimation and validation steps are identical.</a:t>
            </a:r>
            <a:endParaRPr lang="en-US" sz="1600" dirty="0"/>
          </a:p>
        </p:txBody>
      </p:sp>
      <p:sp>
        <p:nvSpPr>
          <p:cNvPr id="4" name="object 4"/>
          <p:cNvSpPr/>
          <p:nvPr/>
        </p:nvSpPr>
        <p:spPr>
          <a:xfrm>
            <a:off x="8596121" y="640841"/>
            <a:ext cx="2560320" cy="0"/>
          </a:xfrm>
          <a:custGeom>
            <a:avLst/>
            <a:gdLst/>
            <a:ahLst/>
            <a:cxnLst/>
            <a:rect l="l" t="t" r="r" b="b"/>
            <a:pathLst>
              <a:path w="2560320">
                <a:moveTo>
                  <a:pt x="0" y="0"/>
                </a:moveTo>
                <a:lnTo>
                  <a:pt x="2560320" y="0"/>
                </a:lnTo>
              </a:path>
            </a:pathLst>
          </a:custGeom>
          <a:ln w="38100">
            <a:solidFill>
              <a:srgbClr val="38BC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27642" y="5715761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>
                <a:moveTo>
                  <a:pt x="0" y="0"/>
                </a:moveTo>
                <a:lnTo>
                  <a:pt x="1645919" y="0"/>
                </a:lnTo>
              </a:path>
            </a:pathLst>
          </a:custGeom>
          <a:ln w="31750">
            <a:solidFill>
              <a:srgbClr val="2CD3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044078" y="3023072"/>
            <a:ext cx="1674550" cy="671089"/>
            <a:chOff x="5254497" y="3195573"/>
            <a:chExt cx="1932939" cy="835660"/>
          </a:xfrm>
        </p:grpSpPr>
        <p:sp>
          <p:nvSpPr>
            <p:cNvPr id="12" name="object 12"/>
            <p:cNvSpPr/>
            <p:nvPr/>
          </p:nvSpPr>
          <p:spPr>
            <a:xfrm>
              <a:off x="5260847" y="3201923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40" h="822960">
                  <a:moveTo>
                    <a:pt x="184708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1"/>
                  </a:lnTo>
                  <a:lnTo>
                    <a:pt x="0" y="749807"/>
                  </a:lnTo>
                  <a:lnTo>
                    <a:pt x="5750" y="778275"/>
                  </a:lnTo>
                  <a:lnTo>
                    <a:pt x="21431" y="801528"/>
                  </a:lnTo>
                  <a:lnTo>
                    <a:pt x="44684" y="817209"/>
                  </a:lnTo>
                  <a:lnTo>
                    <a:pt x="73151" y="822959"/>
                  </a:lnTo>
                  <a:lnTo>
                    <a:pt x="1847087" y="822959"/>
                  </a:lnTo>
                  <a:lnTo>
                    <a:pt x="1875555" y="817209"/>
                  </a:lnTo>
                  <a:lnTo>
                    <a:pt x="1898808" y="801528"/>
                  </a:lnTo>
                  <a:lnTo>
                    <a:pt x="1914489" y="778275"/>
                  </a:lnTo>
                  <a:lnTo>
                    <a:pt x="1920240" y="749807"/>
                  </a:lnTo>
                  <a:lnTo>
                    <a:pt x="1920240" y="73151"/>
                  </a:lnTo>
                  <a:lnTo>
                    <a:pt x="1914489" y="44684"/>
                  </a:lnTo>
                  <a:lnTo>
                    <a:pt x="1898808" y="21431"/>
                  </a:lnTo>
                  <a:lnTo>
                    <a:pt x="1875555" y="5750"/>
                  </a:lnTo>
                  <a:lnTo>
                    <a:pt x="1847087" y="0"/>
                  </a:lnTo>
                  <a:close/>
                </a:path>
              </a:pathLst>
            </a:custGeom>
            <a:solidFill>
              <a:srgbClr val="CCFA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60847" y="3201923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40" h="822960">
                  <a:moveTo>
                    <a:pt x="0" y="73151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847087" y="0"/>
                  </a:lnTo>
                  <a:lnTo>
                    <a:pt x="1875555" y="5750"/>
                  </a:lnTo>
                  <a:lnTo>
                    <a:pt x="1898808" y="21431"/>
                  </a:lnTo>
                  <a:lnTo>
                    <a:pt x="1914489" y="44684"/>
                  </a:lnTo>
                  <a:lnTo>
                    <a:pt x="1920240" y="73151"/>
                  </a:lnTo>
                  <a:lnTo>
                    <a:pt x="1920240" y="749807"/>
                  </a:lnTo>
                  <a:lnTo>
                    <a:pt x="1914489" y="778275"/>
                  </a:lnTo>
                  <a:lnTo>
                    <a:pt x="1898808" y="801528"/>
                  </a:lnTo>
                  <a:lnTo>
                    <a:pt x="1875555" y="817209"/>
                  </a:lnTo>
                  <a:lnTo>
                    <a:pt x="1847087" y="822959"/>
                  </a:lnTo>
                  <a:lnTo>
                    <a:pt x="73151" y="822959"/>
                  </a:lnTo>
                  <a:lnTo>
                    <a:pt x="44684" y="817209"/>
                  </a:lnTo>
                  <a:lnTo>
                    <a:pt x="21431" y="801528"/>
                  </a:lnTo>
                  <a:lnTo>
                    <a:pt x="5750" y="778275"/>
                  </a:lnTo>
                  <a:lnTo>
                    <a:pt x="0" y="749807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2CD3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19326" y="3152991"/>
            <a:ext cx="112405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/>
              <a:t>CMS50D Validation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1872341" y="6593444"/>
            <a:ext cx="7302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lang="fa-IR" sz="700" spc="-50" dirty="0">
                <a:solidFill>
                  <a:srgbClr val="63748A"/>
                </a:solidFill>
                <a:latin typeface="Calibri"/>
                <a:cs typeface="Calibri"/>
              </a:rPr>
              <a:t>2</a:t>
            </a:r>
            <a:endParaRPr sz="700" dirty="0">
              <a:latin typeface="Calibri"/>
              <a:cs typeface="Calibri"/>
            </a:endParaRPr>
          </a:p>
        </p:txBody>
      </p:sp>
      <p:grpSp>
        <p:nvGrpSpPr>
          <p:cNvPr id="46" name="object 7">
            <a:extLst>
              <a:ext uri="{FF2B5EF4-FFF2-40B4-BE49-F238E27FC236}">
                <a16:creationId xmlns:a16="http://schemas.microsoft.com/office/drawing/2014/main" id="{E49E02C0-4AD4-123A-4A40-A701236BAB67}"/>
              </a:ext>
            </a:extLst>
          </p:cNvPr>
          <p:cNvGrpSpPr/>
          <p:nvPr/>
        </p:nvGrpSpPr>
        <p:grpSpPr>
          <a:xfrm>
            <a:off x="433748" y="1701573"/>
            <a:ext cx="1219199" cy="956223"/>
            <a:chOff x="679450" y="1758442"/>
            <a:chExt cx="1384300" cy="652780"/>
          </a:xfrm>
        </p:grpSpPr>
        <p:sp>
          <p:nvSpPr>
            <p:cNvPr id="47" name="object 8">
              <a:extLst>
                <a:ext uri="{FF2B5EF4-FFF2-40B4-BE49-F238E27FC236}">
                  <a16:creationId xmlns:a16="http://schemas.microsoft.com/office/drawing/2014/main" id="{93909BF8-D196-F406-C4A6-FA19074B4642}"/>
                </a:ext>
              </a:extLst>
            </p:cNvPr>
            <p:cNvSpPr/>
            <p:nvPr/>
          </p:nvSpPr>
          <p:spPr>
            <a:xfrm>
              <a:off x="685800" y="1764792"/>
              <a:ext cx="1371600" cy="640080"/>
            </a:xfrm>
            <a:custGeom>
              <a:avLst/>
              <a:gdLst/>
              <a:ahLst/>
              <a:cxnLst/>
              <a:rect l="l" t="t" r="r" b="b"/>
              <a:pathLst>
                <a:path w="1371600" h="640080">
                  <a:moveTo>
                    <a:pt x="1298448" y="0"/>
                  </a:moveTo>
                  <a:lnTo>
                    <a:pt x="73151" y="0"/>
                  </a:lnTo>
                  <a:lnTo>
                    <a:pt x="44678" y="5750"/>
                  </a:lnTo>
                  <a:lnTo>
                    <a:pt x="21426" y="21431"/>
                  </a:lnTo>
                  <a:lnTo>
                    <a:pt x="5748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48" y="595395"/>
                  </a:lnTo>
                  <a:lnTo>
                    <a:pt x="21426" y="618648"/>
                  </a:lnTo>
                  <a:lnTo>
                    <a:pt x="44678" y="634329"/>
                  </a:lnTo>
                  <a:lnTo>
                    <a:pt x="73151" y="640080"/>
                  </a:lnTo>
                  <a:lnTo>
                    <a:pt x="1298448" y="640080"/>
                  </a:lnTo>
                  <a:lnTo>
                    <a:pt x="1326915" y="634329"/>
                  </a:lnTo>
                  <a:lnTo>
                    <a:pt x="1350168" y="618648"/>
                  </a:lnTo>
                  <a:lnTo>
                    <a:pt x="1365849" y="595395"/>
                  </a:lnTo>
                  <a:lnTo>
                    <a:pt x="1371600" y="566928"/>
                  </a:lnTo>
                  <a:lnTo>
                    <a:pt x="1371600" y="73152"/>
                  </a:lnTo>
                  <a:lnTo>
                    <a:pt x="1365849" y="44684"/>
                  </a:lnTo>
                  <a:lnTo>
                    <a:pt x="1350168" y="21431"/>
                  </a:lnTo>
                  <a:lnTo>
                    <a:pt x="1326915" y="5750"/>
                  </a:lnTo>
                  <a:lnTo>
                    <a:pt x="1298448" y="0"/>
                  </a:lnTo>
                  <a:close/>
                </a:path>
              </a:pathLst>
            </a:custGeom>
            <a:solidFill>
              <a:srgbClr val="DBEA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9">
              <a:extLst>
                <a:ext uri="{FF2B5EF4-FFF2-40B4-BE49-F238E27FC236}">
                  <a16:creationId xmlns:a16="http://schemas.microsoft.com/office/drawing/2014/main" id="{4456FFDC-AAED-CF1A-E678-3B7E1530A58B}"/>
                </a:ext>
              </a:extLst>
            </p:cNvPr>
            <p:cNvSpPr/>
            <p:nvPr/>
          </p:nvSpPr>
          <p:spPr>
            <a:xfrm>
              <a:off x="685800" y="1764792"/>
              <a:ext cx="1371600" cy="640080"/>
            </a:xfrm>
            <a:custGeom>
              <a:avLst/>
              <a:gdLst/>
              <a:ahLst/>
              <a:cxnLst/>
              <a:rect l="l" t="t" r="r" b="b"/>
              <a:pathLst>
                <a:path w="1371600" h="640080">
                  <a:moveTo>
                    <a:pt x="0" y="73152"/>
                  </a:moveTo>
                  <a:lnTo>
                    <a:pt x="5748" y="44684"/>
                  </a:lnTo>
                  <a:lnTo>
                    <a:pt x="21426" y="21431"/>
                  </a:lnTo>
                  <a:lnTo>
                    <a:pt x="44678" y="5750"/>
                  </a:lnTo>
                  <a:lnTo>
                    <a:pt x="73151" y="0"/>
                  </a:lnTo>
                  <a:lnTo>
                    <a:pt x="1298448" y="0"/>
                  </a:lnTo>
                  <a:lnTo>
                    <a:pt x="1326915" y="5750"/>
                  </a:lnTo>
                  <a:lnTo>
                    <a:pt x="1350168" y="21431"/>
                  </a:lnTo>
                  <a:lnTo>
                    <a:pt x="1365849" y="44684"/>
                  </a:lnTo>
                  <a:lnTo>
                    <a:pt x="1371600" y="73152"/>
                  </a:lnTo>
                  <a:lnTo>
                    <a:pt x="1371600" y="566928"/>
                  </a:lnTo>
                  <a:lnTo>
                    <a:pt x="1365849" y="595395"/>
                  </a:lnTo>
                  <a:lnTo>
                    <a:pt x="1350168" y="618648"/>
                  </a:lnTo>
                  <a:lnTo>
                    <a:pt x="1326915" y="634329"/>
                  </a:lnTo>
                  <a:lnTo>
                    <a:pt x="1298448" y="640080"/>
                  </a:lnTo>
                  <a:lnTo>
                    <a:pt x="73151" y="640080"/>
                  </a:lnTo>
                  <a:lnTo>
                    <a:pt x="44678" y="634329"/>
                  </a:lnTo>
                  <a:lnTo>
                    <a:pt x="21426" y="618648"/>
                  </a:lnTo>
                  <a:lnTo>
                    <a:pt x="5748" y="595395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11">
            <a:extLst>
              <a:ext uri="{FF2B5EF4-FFF2-40B4-BE49-F238E27FC236}">
                <a16:creationId xmlns:a16="http://schemas.microsoft.com/office/drawing/2014/main" id="{E9B654E3-7822-7B27-FBD5-C98456B73C8A}"/>
              </a:ext>
            </a:extLst>
          </p:cNvPr>
          <p:cNvSpPr txBox="1"/>
          <p:nvPr/>
        </p:nvSpPr>
        <p:spPr>
          <a:xfrm>
            <a:off x="521408" y="2079595"/>
            <a:ext cx="109283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/>
              <a:t>RGB Video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125DBD2A-0E87-FE08-C631-89219DA207A0}"/>
              </a:ext>
            </a:extLst>
          </p:cNvPr>
          <p:cNvSpPr/>
          <p:nvPr/>
        </p:nvSpPr>
        <p:spPr>
          <a:xfrm>
            <a:off x="1754003" y="2040427"/>
            <a:ext cx="640080" cy="76200"/>
          </a:xfrm>
          <a:custGeom>
            <a:avLst/>
            <a:gdLst/>
            <a:ahLst/>
            <a:cxnLst/>
            <a:rect l="l" t="t" r="r" b="b"/>
            <a:pathLst>
              <a:path w="640080" h="76200">
                <a:moveTo>
                  <a:pt x="563880" y="0"/>
                </a:moveTo>
                <a:lnTo>
                  <a:pt x="563880" y="76200"/>
                </a:lnTo>
                <a:lnTo>
                  <a:pt x="614680" y="50800"/>
                </a:lnTo>
                <a:lnTo>
                  <a:pt x="576580" y="50800"/>
                </a:lnTo>
                <a:lnTo>
                  <a:pt x="576580" y="25400"/>
                </a:lnTo>
                <a:lnTo>
                  <a:pt x="614680" y="25400"/>
                </a:lnTo>
                <a:lnTo>
                  <a:pt x="563880" y="0"/>
                </a:lnTo>
                <a:close/>
              </a:path>
              <a:path w="640080" h="76200">
                <a:moveTo>
                  <a:pt x="563880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563880" y="50800"/>
                </a:lnTo>
                <a:lnTo>
                  <a:pt x="563880" y="25400"/>
                </a:lnTo>
                <a:close/>
              </a:path>
              <a:path w="640080" h="76200">
                <a:moveTo>
                  <a:pt x="614680" y="25400"/>
                </a:moveTo>
                <a:lnTo>
                  <a:pt x="576580" y="25400"/>
                </a:lnTo>
                <a:lnTo>
                  <a:pt x="576580" y="50800"/>
                </a:lnTo>
                <a:lnTo>
                  <a:pt x="614680" y="50800"/>
                </a:lnTo>
                <a:lnTo>
                  <a:pt x="640080" y="38100"/>
                </a:lnTo>
                <a:lnTo>
                  <a:pt x="614680" y="25400"/>
                </a:lnTo>
                <a:close/>
              </a:path>
            </a:pathLst>
          </a:custGeom>
          <a:solidFill>
            <a:srgbClr val="93A2B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13">
            <a:extLst>
              <a:ext uri="{FF2B5EF4-FFF2-40B4-BE49-F238E27FC236}">
                <a16:creationId xmlns:a16="http://schemas.microsoft.com/office/drawing/2014/main" id="{7D0A0D38-9E09-E05B-AC30-EE1DB678F4EB}"/>
              </a:ext>
            </a:extLst>
          </p:cNvPr>
          <p:cNvGrpSpPr/>
          <p:nvPr/>
        </p:nvGrpSpPr>
        <p:grpSpPr>
          <a:xfrm>
            <a:off x="2442705" y="1721103"/>
            <a:ext cx="1438398" cy="908809"/>
            <a:chOff x="2901442" y="1758442"/>
            <a:chExt cx="1704339" cy="652780"/>
          </a:xfrm>
        </p:grpSpPr>
        <p:sp>
          <p:nvSpPr>
            <p:cNvPr id="52" name="object 14">
              <a:extLst>
                <a:ext uri="{FF2B5EF4-FFF2-40B4-BE49-F238E27FC236}">
                  <a16:creationId xmlns:a16="http://schemas.microsoft.com/office/drawing/2014/main" id="{1A51CE4A-B269-A3B4-70AB-30C5F16014C1}"/>
                </a:ext>
              </a:extLst>
            </p:cNvPr>
            <p:cNvSpPr/>
            <p:nvPr/>
          </p:nvSpPr>
          <p:spPr>
            <a:xfrm>
              <a:off x="2907792" y="1764792"/>
              <a:ext cx="1691639" cy="640080"/>
            </a:xfrm>
            <a:custGeom>
              <a:avLst/>
              <a:gdLst/>
              <a:ahLst/>
              <a:cxnLst/>
              <a:rect l="l" t="t" r="r" b="b"/>
              <a:pathLst>
                <a:path w="1691639" h="640080">
                  <a:moveTo>
                    <a:pt x="161848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395"/>
                  </a:lnTo>
                  <a:lnTo>
                    <a:pt x="21431" y="618648"/>
                  </a:lnTo>
                  <a:lnTo>
                    <a:pt x="44684" y="634329"/>
                  </a:lnTo>
                  <a:lnTo>
                    <a:pt x="73151" y="640080"/>
                  </a:lnTo>
                  <a:lnTo>
                    <a:pt x="1618487" y="640080"/>
                  </a:lnTo>
                  <a:lnTo>
                    <a:pt x="1646955" y="634329"/>
                  </a:lnTo>
                  <a:lnTo>
                    <a:pt x="1670208" y="618648"/>
                  </a:lnTo>
                  <a:lnTo>
                    <a:pt x="1685889" y="595395"/>
                  </a:lnTo>
                  <a:lnTo>
                    <a:pt x="1691640" y="566928"/>
                  </a:lnTo>
                  <a:lnTo>
                    <a:pt x="1691640" y="73152"/>
                  </a:lnTo>
                  <a:lnTo>
                    <a:pt x="1685889" y="44684"/>
                  </a:lnTo>
                  <a:lnTo>
                    <a:pt x="1670208" y="21431"/>
                  </a:lnTo>
                  <a:lnTo>
                    <a:pt x="1646955" y="5750"/>
                  </a:lnTo>
                  <a:lnTo>
                    <a:pt x="1618487" y="0"/>
                  </a:lnTo>
                  <a:close/>
                </a:path>
              </a:pathLst>
            </a:custGeom>
            <a:solidFill>
              <a:srgbClr val="CFF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5">
              <a:extLst>
                <a:ext uri="{FF2B5EF4-FFF2-40B4-BE49-F238E27FC236}">
                  <a16:creationId xmlns:a16="http://schemas.microsoft.com/office/drawing/2014/main" id="{4F72A911-4021-B9C1-24D5-6373817E3670}"/>
                </a:ext>
              </a:extLst>
            </p:cNvPr>
            <p:cNvSpPr/>
            <p:nvPr/>
          </p:nvSpPr>
          <p:spPr>
            <a:xfrm>
              <a:off x="2907792" y="1764792"/>
              <a:ext cx="1691639" cy="640080"/>
            </a:xfrm>
            <a:custGeom>
              <a:avLst/>
              <a:gdLst/>
              <a:ahLst/>
              <a:cxnLst/>
              <a:rect l="l" t="t" r="r" b="b"/>
              <a:pathLst>
                <a:path w="1691639" h="64008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618487" y="0"/>
                  </a:lnTo>
                  <a:lnTo>
                    <a:pt x="1646955" y="5750"/>
                  </a:lnTo>
                  <a:lnTo>
                    <a:pt x="1670208" y="21431"/>
                  </a:lnTo>
                  <a:lnTo>
                    <a:pt x="1685889" y="44684"/>
                  </a:lnTo>
                  <a:lnTo>
                    <a:pt x="1691640" y="73152"/>
                  </a:lnTo>
                  <a:lnTo>
                    <a:pt x="1691640" y="566928"/>
                  </a:lnTo>
                  <a:lnTo>
                    <a:pt x="1685889" y="595395"/>
                  </a:lnTo>
                  <a:lnTo>
                    <a:pt x="1670208" y="618648"/>
                  </a:lnTo>
                  <a:lnTo>
                    <a:pt x="1646955" y="634329"/>
                  </a:lnTo>
                  <a:lnTo>
                    <a:pt x="1618487" y="640080"/>
                  </a:lnTo>
                  <a:lnTo>
                    <a:pt x="73151" y="640080"/>
                  </a:lnTo>
                  <a:lnTo>
                    <a:pt x="44684" y="634329"/>
                  </a:lnTo>
                  <a:lnTo>
                    <a:pt x="21431" y="618648"/>
                  </a:lnTo>
                  <a:lnTo>
                    <a:pt x="5750" y="595395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05B6D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16">
            <a:extLst>
              <a:ext uri="{FF2B5EF4-FFF2-40B4-BE49-F238E27FC236}">
                <a16:creationId xmlns:a16="http://schemas.microsoft.com/office/drawing/2014/main" id="{4C075B63-FCB2-6F4F-BF00-48B41D8E30C6}"/>
              </a:ext>
            </a:extLst>
          </p:cNvPr>
          <p:cNvSpPr txBox="1"/>
          <p:nvPr/>
        </p:nvSpPr>
        <p:spPr>
          <a:xfrm>
            <a:off x="2514175" y="2040760"/>
            <a:ext cx="136156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/>
              <a:t>Face Detection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55" name="object 17">
            <a:extLst>
              <a:ext uri="{FF2B5EF4-FFF2-40B4-BE49-F238E27FC236}">
                <a16:creationId xmlns:a16="http://schemas.microsoft.com/office/drawing/2014/main" id="{BFD77FB6-8542-2D88-1D30-618EAE1C5A58}"/>
              </a:ext>
            </a:extLst>
          </p:cNvPr>
          <p:cNvSpPr/>
          <p:nvPr/>
        </p:nvSpPr>
        <p:spPr>
          <a:xfrm>
            <a:off x="3942694" y="2078527"/>
            <a:ext cx="640080" cy="76200"/>
          </a:xfrm>
          <a:custGeom>
            <a:avLst/>
            <a:gdLst/>
            <a:ahLst/>
            <a:cxnLst/>
            <a:rect l="l" t="t" r="r" b="b"/>
            <a:pathLst>
              <a:path w="640079" h="76200">
                <a:moveTo>
                  <a:pt x="563879" y="0"/>
                </a:moveTo>
                <a:lnTo>
                  <a:pt x="563879" y="76200"/>
                </a:lnTo>
                <a:lnTo>
                  <a:pt x="614679" y="50800"/>
                </a:lnTo>
                <a:lnTo>
                  <a:pt x="576579" y="50800"/>
                </a:lnTo>
                <a:lnTo>
                  <a:pt x="576579" y="25400"/>
                </a:lnTo>
                <a:lnTo>
                  <a:pt x="614679" y="25400"/>
                </a:lnTo>
                <a:lnTo>
                  <a:pt x="563879" y="0"/>
                </a:lnTo>
                <a:close/>
              </a:path>
              <a:path w="640079" h="76200">
                <a:moveTo>
                  <a:pt x="56387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563879" y="50800"/>
                </a:lnTo>
                <a:lnTo>
                  <a:pt x="563879" y="25400"/>
                </a:lnTo>
                <a:close/>
              </a:path>
              <a:path w="640079" h="76200">
                <a:moveTo>
                  <a:pt x="614679" y="25400"/>
                </a:moveTo>
                <a:lnTo>
                  <a:pt x="576579" y="25400"/>
                </a:lnTo>
                <a:lnTo>
                  <a:pt x="576579" y="50800"/>
                </a:lnTo>
                <a:lnTo>
                  <a:pt x="614679" y="50800"/>
                </a:lnTo>
                <a:lnTo>
                  <a:pt x="640079" y="38100"/>
                </a:lnTo>
                <a:lnTo>
                  <a:pt x="614679" y="25400"/>
                </a:lnTo>
                <a:close/>
              </a:path>
            </a:pathLst>
          </a:custGeom>
          <a:solidFill>
            <a:srgbClr val="93A2B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6" name="object 18">
            <a:extLst>
              <a:ext uri="{FF2B5EF4-FFF2-40B4-BE49-F238E27FC236}">
                <a16:creationId xmlns:a16="http://schemas.microsoft.com/office/drawing/2014/main" id="{6C28E678-B757-2860-12E2-B040F3A0235C}"/>
              </a:ext>
            </a:extLst>
          </p:cNvPr>
          <p:cNvGrpSpPr/>
          <p:nvPr/>
        </p:nvGrpSpPr>
        <p:grpSpPr>
          <a:xfrm>
            <a:off x="4650721" y="1730955"/>
            <a:ext cx="1445279" cy="926841"/>
            <a:chOff x="5443473" y="1758442"/>
            <a:chExt cx="1887220" cy="652780"/>
          </a:xfrm>
        </p:grpSpPr>
        <p:sp>
          <p:nvSpPr>
            <p:cNvPr id="57" name="object 19">
              <a:extLst>
                <a:ext uri="{FF2B5EF4-FFF2-40B4-BE49-F238E27FC236}">
                  <a16:creationId xmlns:a16="http://schemas.microsoft.com/office/drawing/2014/main" id="{661A3986-A51C-07AD-529A-C5312937E028}"/>
                </a:ext>
              </a:extLst>
            </p:cNvPr>
            <p:cNvSpPr/>
            <p:nvPr/>
          </p:nvSpPr>
          <p:spPr>
            <a:xfrm>
              <a:off x="5449823" y="1764792"/>
              <a:ext cx="1874520" cy="640080"/>
            </a:xfrm>
            <a:custGeom>
              <a:avLst/>
              <a:gdLst/>
              <a:ahLst/>
              <a:cxnLst/>
              <a:rect l="l" t="t" r="r" b="b"/>
              <a:pathLst>
                <a:path w="1874520" h="640080">
                  <a:moveTo>
                    <a:pt x="18013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395"/>
                  </a:lnTo>
                  <a:lnTo>
                    <a:pt x="21431" y="618648"/>
                  </a:lnTo>
                  <a:lnTo>
                    <a:pt x="44684" y="634329"/>
                  </a:lnTo>
                  <a:lnTo>
                    <a:pt x="73151" y="640080"/>
                  </a:lnTo>
                  <a:lnTo>
                    <a:pt x="1801368" y="640080"/>
                  </a:lnTo>
                  <a:lnTo>
                    <a:pt x="1829835" y="634329"/>
                  </a:lnTo>
                  <a:lnTo>
                    <a:pt x="1853088" y="618648"/>
                  </a:lnTo>
                  <a:lnTo>
                    <a:pt x="1868769" y="595395"/>
                  </a:lnTo>
                  <a:lnTo>
                    <a:pt x="1874520" y="566928"/>
                  </a:lnTo>
                  <a:lnTo>
                    <a:pt x="1874520" y="73152"/>
                  </a:lnTo>
                  <a:lnTo>
                    <a:pt x="1868769" y="44684"/>
                  </a:lnTo>
                  <a:lnTo>
                    <a:pt x="1853088" y="21431"/>
                  </a:lnTo>
                  <a:lnTo>
                    <a:pt x="1829835" y="5750"/>
                  </a:lnTo>
                  <a:lnTo>
                    <a:pt x="1801368" y="0"/>
                  </a:lnTo>
                  <a:close/>
                </a:path>
              </a:pathLst>
            </a:custGeom>
            <a:solidFill>
              <a:srgbClr val="DCFB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20">
              <a:extLst>
                <a:ext uri="{FF2B5EF4-FFF2-40B4-BE49-F238E27FC236}">
                  <a16:creationId xmlns:a16="http://schemas.microsoft.com/office/drawing/2014/main" id="{E18EE5F3-B2FD-4A23-5B51-72EC9625C030}"/>
                </a:ext>
              </a:extLst>
            </p:cNvPr>
            <p:cNvSpPr/>
            <p:nvPr/>
          </p:nvSpPr>
          <p:spPr>
            <a:xfrm>
              <a:off x="5449823" y="1764792"/>
              <a:ext cx="1874520" cy="640080"/>
            </a:xfrm>
            <a:custGeom>
              <a:avLst/>
              <a:gdLst/>
              <a:ahLst/>
              <a:cxnLst/>
              <a:rect l="l" t="t" r="r" b="b"/>
              <a:pathLst>
                <a:path w="1874520" h="64008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801368" y="0"/>
                  </a:lnTo>
                  <a:lnTo>
                    <a:pt x="1829835" y="5750"/>
                  </a:lnTo>
                  <a:lnTo>
                    <a:pt x="1853088" y="21431"/>
                  </a:lnTo>
                  <a:lnTo>
                    <a:pt x="1868769" y="44684"/>
                  </a:lnTo>
                  <a:lnTo>
                    <a:pt x="1874520" y="73152"/>
                  </a:lnTo>
                  <a:lnTo>
                    <a:pt x="1874520" y="566928"/>
                  </a:lnTo>
                  <a:lnTo>
                    <a:pt x="1868769" y="595395"/>
                  </a:lnTo>
                  <a:lnTo>
                    <a:pt x="1853088" y="618648"/>
                  </a:lnTo>
                  <a:lnTo>
                    <a:pt x="1829835" y="634329"/>
                  </a:lnTo>
                  <a:lnTo>
                    <a:pt x="1801368" y="640080"/>
                  </a:lnTo>
                  <a:lnTo>
                    <a:pt x="73151" y="640080"/>
                  </a:lnTo>
                  <a:lnTo>
                    <a:pt x="44684" y="634329"/>
                  </a:lnTo>
                  <a:lnTo>
                    <a:pt x="21431" y="618648"/>
                  </a:lnTo>
                  <a:lnTo>
                    <a:pt x="5750" y="595395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21C5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21">
            <a:extLst>
              <a:ext uri="{FF2B5EF4-FFF2-40B4-BE49-F238E27FC236}">
                <a16:creationId xmlns:a16="http://schemas.microsoft.com/office/drawing/2014/main" id="{A7B2DFB7-FA9F-B3E4-FDD9-77062B426457}"/>
              </a:ext>
            </a:extLst>
          </p:cNvPr>
          <p:cNvSpPr txBox="1"/>
          <p:nvPr/>
        </p:nvSpPr>
        <p:spPr>
          <a:xfrm>
            <a:off x="4582774" y="2010141"/>
            <a:ext cx="161798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/>
              <a:t>ROI Extraction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60" name="object 22">
            <a:extLst>
              <a:ext uri="{FF2B5EF4-FFF2-40B4-BE49-F238E27FC236}">
                <a16:creationId xmlns:a16="http://schemas.microsoft.com/office/drawing/2014/main" id="{C021AD85-33D8-22F9-94EC-92CC2F573B41}"/>
              </a:ext>
            </a:extLst>
          </p:cNvPr>
          <p:cNvSpPr/>
          <p:nvPr/>
        </p:nvSpPr>
        <p:spPr>
          <a:xfrm>
            <a:off x="6245394" y="2141584"/>
            <a:ext cx="640080" cy="76200"/>
          </a:xfrm>
          <a:custGeom>
            <a:avLst/>
            <a:gdLst/>
            <a:ahLst/>
            <a:cxnLst/>
            <a:rect l="l" t="t" r="r" b="b"/>
            <a:pathLst>
              <a:path w="640079" h="76200">
                <a:moveTo>
                  <a:pt x="563879" y="0"/>
                </a:moveTo>
                <a:lnTo>
                  <a:pt x="563879" y="76200"/>
                </a:lnTo>
                <a:lnTo>
                  <a:pt x="614679" y="50800"/>
                </a:lnTo>
                <a:lnTo>
                  <a:pt x="576579" y="50800"/>
                </a:lnTo>
                <a:lnTo>
                  <a:pt x="576579" y="25400"/>
                </a:lnTo>
                <a:lnTo>
                  <a:pt x="614679" y="25400"/>
                </a:lnTo>
                <a:lnTo>
                  <a:pt x="563879" y="0"/>
                </a:lnTo>
                <a:close/>
              </a:path>
              <a:path w="640079" h="76200">
                <a:moveTo>
                  <a:pt x="56387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563879" y="50800"/>
                </a:lnTo>
                <a:lnTo>
                  <a:pt x="563879" y="25400"/>
                </a:lnTo>
                <a:close/>
              </a:path>
              <a:path w="640079" h="76200">
                <a:moveTo>
                  <a:pt x="614679" y="25400"/>
                </a:moveTo>
                <a:lnTo>
                  <a:pt x="576579" y="25400"/>
                </a:lnTo>
                <a:lnTo>
                  <a:pt x="576579" y="50800"/>
                </a:lnTo>
                <a:lnTo>
                  <a:pt x="614679" y="50800"/>
                </a:lnTo>
                <a:lnTo>
                  <a:pt x="640079" y="38100"/>
                </a:lnTo>
                <a:lnTo>
                  <a:pt x="614679" y="25400"/>
                </a:lnTo>
                <a:close/>
              </a:path>
            </a:pathLst>
          </a:custGeom>
          <a:solidFill>
            <a:srgbClr val="93A2B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23">
            <a:extLst>
              <a:ext uri="{FF2B5EF4-FFF2-40B4-BE49-F238E27FC236}">
                <a16:creationId xmlns:a16="http://schemas.microsoft.com/office/drawing/2014/main" id="{BC94BCFA-DBFC-07D0-415A-16FF3E62BB76}"/>
              </a:ext>
            </a:extLst>
          </p:cNvPr>
          <p:cNvGrpSpPr/>
          <p:nvPr/>
        </p:nvGrpSpPr>
        <p:grpSpPr>
          <a:xfrm>
            <a:off x="7018559" y="1721103"/>
            <a:ext cx="1797713" cy="945896"/>
            <a:chOff x="8177530" y="1758442"/>
            <a:chExt cx="1658620" cy="652780"/>
          </a:xfrm>
        </p:grpSpPr>
        <p:sp>
          <p:nvSpPr>
            <p:cNvPr id="62" name="object 24">
              <a:extLst>
                <a:ext uri="{FF2B5EF4-FFF2-40B4-BE49-F238E27FC236}">
                  <a16:creationId xmlns:a16="http://schemas.microsoft.com/office/drawing/2014/main" id="{D9C8229A-CBBD-AD50-B279-67A524196E51}"/>
                </a:ext>
              </a:extLst>
            </p:cNvPr>
            <p:cNvSpPr/>
            <p:nvPr/>
          </p:nvSpPr>
          <p:spPr>
            <a:xfrm>
              <a:off x="8183880" y="1764792"/>
              <a:ext cx="1645920" cy="640080"/>
            </a:xfrm>
            <a:custGeom>
              <a:avLst/>
              <a:gdLst/>
              <a:ahLst/>
              <a:cxnLst/>
              <a:rect l="l" t="t" r="r" b="b"/>
              <a:pathLst>
                <a:path w="1645920" h="640080">
                  <a:moveTo>
                    <a:pt x="1572768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395"/>
                  </a:lnTo>
                  <a:lnTo>
                    <a:pt x="21431" y="618648"/>
                  </a:lnTo>
                  <a:lnTo>
                    <a:pt x="44684" y="634329"/>
                  </a:lnTo>
                  <a:lnTo>
                    <a:pt x="73151" y="640080"/>
                  </a:lnTo>
                  <a:lnTo>
                    <a:pt x="1572768" y="640080"/>
                  </a:lnTo>
                  <a:lnTo>
                    <a:pt x="1601235" y="634329"/>
                  </a:lnTo>
                  <a:lnTo>
                    <a:pt x="1624488" y="618648"/>
                  </a:lnTo>
                  <a:lnTo>
                    <a:pt x="1640169" y="595395"/>
                  </a:lnTo>
                  <a:lnTo>
                    <a:pt x="1645920" y="566928"/>
                  </a:lnTo>
                  <a:lnTo>
                    <a:pt x="1645920" y="73152"/>
                  </a:lnTo>
                  <a:lnTo>
                    <a:pt x="1640169" y="44684"/>
                  </a:lnTo>
                  <a:lnTo>
                    <a:pt x="1624488" y="21431"/>
                  </a:lnTo>
                  <a:lnTo>
                    <a:pt x="1601235" y="5750"/>
                  </a:lnTo>
                  <a:lnTo>
                    <a:pt x="1572768" y="0"/>
                  </a:lnTo>
                  <a:close/>
                </a:path>
              </a:pathLst>
            </a:custGeom>
            <a:solidFill>
              <a:srgbClr val="FFEC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25">
              <a:extLst>
                <a:ext uri="{FF2B5EF4-FFF2-40B4-BE49-F238E27FC236}">
                  <a16:creationId xmlns:a16="http://schemas.microsoft.com/office/drawing/2014/main" id="{24A884EE-A144-30AC-CDD0-020ADB07C2B3}"/>
                </a:ext>
              </a:extLst>
            </p:cNvPr>
            <p:cNvSpPr/>
            <p:nvPr/>
          </p:nvSpPr>
          <p:spPr>
            <a:xfrm>
              <a:off x="8183880" y="1764792"/>
              <a:ext cx="1645920" cy="640080"/>
            </a:xfrm>
            <a:custGeom>
              <a:avLst/>
              <a:gdLst/>
              <a:ahLst/>
              <a:cxnLst/>
              <a:rect l="l" t="t" r="r" b="b"/>
              <a:pathLst>
                <a:path w="1645920" h="64008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572768" y="0"/>
                  </a:lnTo>
                  <a:lnTo>
                    <a:pt x="1601235" y="5750"/>
                  </a:lnTo>
                  <a:lnTo>
                    <a:pt x="1624488" y="21431"/>
                  </a:lnTo>
                  <a:lnTo>
                    <a:pt x="1640169" y="44684"/>
                  </a:lnTo>
                  <a:lnTo>
                    <a:pt x="1645920" y="73152"/>
                  </a:lnTo>
                  <a:lnTo>
                    <a:pt x="1645920" y="566928"/>
                  </a:lnTo>
                  <a:lnTo>
                    <a:pt x="1640169" y="595395"/>
                  </a:lnTo>
                  <a:lnTo>
                    <a:pt x="1624488" y="618648"/>
                  </a:lnTo>
                  <a:lnTo>
                    <a:pt x="1601235" y="634329"/>
                  </a:lnTo>
                  <a:lnTo>
                    <a:pt x="1572768" y="640080"/>
                  </a:lnTo>
                  <a:lnTo>
                    <a:pt x="73151" y="640080"/>
                  </a:lnTo>
                  <a:lnTo>
                    <a:pt x="44684" y="634329"/>
                  </a:lnTo>
                  <a:lnTo>
                    <a:pt x="21431" y="618648"/>
                  </a:lnTo>
                  <a:lnTo>
                    <a:pt x="5750" y="595395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26">
            <a:extLst>
              <a:ext uri="{FF2B5EF4-FFF2-40B4-BE49-F238E27FC236}">
                <a16:creationId xmlns:a16="http://schemas.microsoft.com/office/drawing/2014/main" id="{0F50E01C-3B33-18EC-378D-5D00773486F8}"/>
              </a:ext>
            </a:extLst>
          </p:cNvPr>
          <p:cNvSpPr txBox="1"/>
          <p:nvPr/>
        </p:nvSpPr>
        <p:spPr>
          <a:xfrm>
            <a:off x="7070401" y="1916052"/>
            <a:ext cx="1731995" cy="487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 err="1"/>
              <a:t>rPPG</a:t>
            </a:r>
            <a:r>
              <a:rPr lang="en-US" sz="1600" b="1" dirty="0"/>
              <a:t> </a:t>
            </a:r>
            <a:r>
              <a:rPr lang="en-US" sz="1400" b="1" dirty="0"/>
              <a:t>Extraction</a:t>
            </a:r>
            <a:endParaRPr lang="fa-IR" sz="1600" b="1" dirty="0">
              <a:latin typeface="Calibri"/>
              <a:cs typeface="Calibri"/>
            </a:endParaRPr>
          </a:p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>
                <a:latin typeface="Calibri"/>
                <a:cs typeface="Calibri"/>
              </a:rPr>
              <a:t>GREEN / POS/ CHROM</a:t>
            </a:r>
            <a:endParaRPr sz="1400" b="1" dirty="0">
              <a:latin typeface="Calibri"/>
              <a:cs typeface="Calibri"/>
            </a:endParaRPr>
          </a:p>
        </p:txBody>
      </p:sp>
      <p:sp>
        <p:nvSpPr>
          <p:cNvPr id="65" name="object 27">
            <a:extLst>
              <a:ext uri="{FF2B5EF4-FFF2-40B4-BE49-F238E27FC236}">
                <a16:creationId xmlns:a16="http://schemas.microsoft.com/office/drawing/2014/main" id="{6C3AF797-A81C-F8F2-1D70-F15552D2BC2B}"/>
              </a:ext>
            </a:extLst>
          </p:cNvPr>
          <p:cNvSpPr/>
          <p:nvPr/>
        </p:nvSpPr>
        <p:spPr>
          <a:xfrm>
            <a:off x="9030412" y="2143984"/>
            <a:ext cx="640080" cy="76200"/>
          </a:xfrm>
          <a:custGeom>
            <a:avLst/>
            <a:gdLst/>
            <a:ahLst/>
            <a:cxnLst/>
            <a:rect l="l" t="t" r="r" b="b"/>
            <a:pathLst>
              <a:path w="640079" h="76200">
                <a:moveTo>
                  <a:pt x="563879" y="0"/>
                </a:moveTo>
                <a:lnTo>
                  <a:pt x="563879" y="76200"/>
                </a:lnTo>
                <a:lnTo>
                  <a:pt x="614679" y="50800"/>
                </a:lnTo>
                <a:lnTo>
                  <a:pt x="576579" y="50800"/>
                </a:lnTo>
                <a:lnTo>
                  <a:pt x="576579" y="25400"/>
                </a:lnTo>
                <a:lnTo>
                  <a:pt x="614679" y="25400"/>
                </a:lnTo>
                <a:lnTo>
                  <a:pt x="563879" y="0"/>
                </a:lnTo>
                <a:close/>
              </a:path>
              <a:path w="640079" h="76200">
                <a:moveTo>
                  <a:pt x="563879" y="25400"/>
                </a:moveTo>
                <a:lnTo>
                  <a:pt x="0" y="25400"/>
                </a:lnTo>
                <a:lnTo>
                  <a:pt x="0" y="50800"/>
                </a:lnTo>
                <a:lnTo>
                  <a:pt x="563879" y="50800"/>
                </a:lnTo>
                <a:lnTo>
                  <a:pt x="563879" y="25400"/>
                </a:lnTo>
                <a:close/>
              </a:path>
              <a:path w="640079" h="76200">
                <a:moveTo>
                  <a:pt x="614679" y="25400"/>
                </a:moveTo>
                <a:lnTo>
                  <a:pt x="576579" y="25400"/>
                </a:lnTo>
                <a:lnTo>
                  <a:pt x="576579" y="50800"/>
                </a:lnTo>
                <a:lnTo>
                  <a:pt x="614679" y="50800"/>
                </a:lnTo>
                <a:lnTo>
                  <a:pt x="640079" y="38100"/>
                </a:lnTo>
                <a:lnTo>
                  <a:pt x="614679" y="25400"/>
                </a:lnTo>
                <a:close/>
              </a:path>
            </a:pathLst>
          </a:custGeom>
          <a:solidFill>
            <a:srgbClr val="93A2B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6" name="object 28">
            <a:extLst>
              <a:ext uri="{FF2B5EF4-FFF2-40B4-BE49-F238E27FC236}">
                <a16:creationId xmlns:a16="http://schemas.microsoft.com/office/drawing/2014/main" id="{D505264A-93E3-7194-87B1-D063C8ED232A}"/>
              </a:ext>
            </a:extLst>
          </p:cNvPr>
          <p:cNvGrpSpPr/>
          <p:nvPr/>
        </p:nvGrpSpPr>
        <p:grpSpPr>
          <a:xfrm>
            <a:off x="9743935" y="1694934"/>
            <a:ext cx="1548893" cy="953559"/>
            <a:chOff x="10673842" y="1758442"/>
            <a:chExt cx="1109980" cy="652780"/>
          </a:xfrm>
        </p:grpSpPr>
        <p:sp>
          <p:nvSpPr>
            <p:cNvPr id="67" name="object 29">
              <a:extLst>
                <a:ext uri="{FF2B5EF4-FFF2-40B4-BE49-F238E27FC236}">
                  <a16:creationId xmlns:a16="http://schemas.microsoft.com/office/drawing/2014/main" id="{A8614842-31E6-2BE2-7547-1E9944ED9E52}"/>
                </a:ext>
              </a:extLst>
            </p:cNvPr>
            <p:cNvSpPr/>
            <p:nvPr/>
          </p:nvSpPr>
          <p:spPr>
            <a:xfrm>
              <a:off x="10680192" y="1764792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79" h="640080">
                  <a:moveTo>
                    <a:pt x="1024127" y="0"/>
                  </a:moveTo>
                  <a:lnTo>
                    <a:pt x="73151" y="0"/>
                  </a:lnTo>
                  <a:lnTo>
                    <a:pt x="44684" y="5750"/>
                  </a:lnTo>
                  <a:lnTo>
                    <a:pt x="21431" y="21431"/>
                  </a:lnTo>
                  <a:lnTo>
                    <a:pt x="5750" y="44684"/>
                  </a:lnTo>
                  <a:lnTo>
                    <a:pt x="0" y="73152"/>
                  </a:lnTo>
                  <a:lnTo>
                    <a:pt x="0" y="566928"/>
                  </a:lnTo>
                  <a:lnTo>
                    <a:pt x="5750" y="595395"/>
                  </a:lnTo>
                  <a:lnTo>
                    <a:pt x="21431" y="618648"/>
                  </a:lnTo>
                  <a:lnTo>
                    <a:pt x="44684" y="634329"/>
                  </a:lnTo>
                  <a:lnTo>
                    <a:pt x="73151" y="640080"/>
                  </a:lnTo>
                  <a:lnTo>
                    <a:pt x="1024127" y="640080"/>
                  </a:lnTo>
                  <a:lnTo>
                    <a:pt x="1052595" y="634329"/>
                  </a:lnTo>
                  <a:lnTo>
                    <a:pt x="1075848" y="618648"/>
                  </a:lnTo>
                  <a:lnTo>
                    <a:pt x="1091529" y="595395"/>
                  </a:lnTo>
                  <a:lnTo>
                    <a:pt x="1097279" y="566928"/>
                  </a:lnTo>
                  <a:lnTo>
                    <a:pt x="1097279" y="73152"/>
                  </a:lnTo>
                  <a:lnTo>
                    <a:pt x="1091529" y="44684"/>
                  </a:lnTo>
                  <a:lnTo>
                    <a:pt x="1075848" y="21431"/>
                  </a:lnTo>
                  <a:lnTo>
                    <a:pt x="1052595" y="5750"/>
                  </a:lnTo>
                  <a:lnTo>
                    <a:pt x="1024127" y="0"/>
                  </a:lnTo>
                  <a:close/>
                </a:path>
              </a:pathLst>
            </a:custGeom>
            <a:solidFill>
              <a:srgbClr val="ECE9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30">
              <a:extLst>
                <a:ext uri="{FF2B5EF4-FFF2-40B4-BE49-F238E27FC236}">
                  <a16:creationId xmlns:a16="http://schemas.microsoft.com/office/drawing/2014/main" id="{22E403B9-1CFE-5100-762E-3EC0BF92E651}"/>
                </a:ext>
              </a:extLst>
            </p:cNvPr>
            <p:cNvSpPr/>
            <p:nvPr/>
          </p:nvSpPr>
          <p:spPr>
            <a:xfrm>
              <a:off x="10680192" y="1764792"/>
              <a:ext cx="1097280" cy="640080"/>
            </a:xfrm>
            <a:custGeom>
              <a:avLst/>
              <a:gdLst/>
              <a:ahLst/>
              <a:cxnLst/>
              <a:rect l="l" t="t" r="r" b="b"/>
              <a:pathLst>
                <a:path w="1097279" h="640080">
                  <a:moveTo>
                    <a:pt x="0" y="73152"/>
                  </a:moveTo>
                  <a:lnTo>
                    <a:pt x="5750" y="44684"/>
                  </a:lnTo>
                  <a:lnTo>
                    <a:pt x="21431" y="21431"/>
                  </a:lnTo>
                  <a:lnTo>
                    <a:pt x="44684" y="5750"/>
                  </a:lnTo>
                  <a:lnTo>
                    <a:pt x="73151" y="0"/>
                  </a:lnTo>
                  <a:lnTo>
                    <a:pt x="1024127" y="0"/>
                  </a:lnTo>
                  <a:lnTo>
                    <a:pt x="1052595" y="5750"/>
                  </a:lnTo>
                  <a:lnTo>
                    <a:pt x="1075848" y="21431"/>
                  </a:lnTo>
                  <a:lnTo>
                    <a:pt x="1091529" y="44684"/>
                  </a:lnTo>
                  <a:lnTo>
                    <a:pt x="1097279" y="73152"/>
                  </a:lnTo>
                  <a:lnTo>
                    <a:pt x="1097279" y="566928"/>
                  </a:lnTo>
                  <a:lnTo>
                    <a:pt x="1091529" y="595395"/>
                  </a:lnTo>
                  <a:lnTo>
                    <a:pt x="1075848" y="618648"/>
                  </a:lnTo>
                  <a:lnTo>
                    <a:pt x="1052595" y="634329"/>
                  </a:lnTo>
                  <a:lnTo>
                    <a:pt x="1024127" y="640080"/>
                  </a:lnTo>
                  <a:lnTo>
                    <a:pt x="73151" y="640080"/>
                  </a:lnTo>
                  <a:lnTo>
                    <a:pt x="44684" y="634329"/>
                  </a:lnTo>
                  <a:lnTo>
                    <a:pt x="21431" y="618648"/>
                  </a:lnTo>
                  <a:lnTo>
                    <a:pt x="5750" y="595395"/>
                  </a:lnTo>
                  <a:lnTo>
                    <a:pt x="0" y="566928"/>
                  </a:lnTo>
                  <a:lnTo>
                    <a:pt x="0" y="73152"/>
                  </a:lnTo>
                  <a:close/>
                </a:path>
              </a:pathLst>
            </a:custGeom>
            <a:ln w="12700">
              <a:solidFill>
                <a:srgbClr val="7B3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31">
            <a:extLst>
              <a:ext uri="{FF2B5EF4-FFF2-40B4-BE49-F238E27FC236}">
                <a16:creationId xmlns:a16="http://schemas.microsoft.com/office/drawing/2014/main" id="{FA9E4DD3-C97D-7032-9217-182FF50BBEF8}"/>
              </a:ext>
            </a:extLst>
          </p:cNvPr>
          <p:cNvSpPr txBox="1"/>
          <p:nvPr/>
        </p:nvSpPr>
        <p:spPr>
          <a:xfrm>
            <a:off x="9817726" y="1955493"/>
            <a:ext cx="1416859" cy="672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 marR="5080" indent="-48895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/>
              <a:t>Shared preprocessing</a:t>
            </a:r>
          </a:p>
          <a:p>
            <a:pPr marL="60960" marR="5080" indent="-48895">
              <a:lnSpc>
                <a:spcPct val="100000"/>
              </a:lnSpc>
              <a:spcBef>
                <a:spcPts val="105"/>
              </a:spcBef>
            </a:pPr>
            <a:endParaRPr sz="1400" b="1" dirty="0">
              <a:latin typeface="Calibri"/>
              <a:cs typeface="Calibri"/>
            </a:endParaRP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25664E6D-C1BD-CEEE-D223-8657A130F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542" y="3400067"/>
            <a:ext cx="640135" cy="73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39296-72A0-E81F-F1FC-23C779C27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094" y="3015442"/>
            <a:ext cx="1758888" cy="711107"/>
          </a:xfrm>
          <a:prstGeom prst="rect">
            <a:avLst/>
          </a:prstGeom>
        </p:spPr>
      </p:pic>
      <p:sp>
        <p:nvSpPr>
          <p:cNvPr id="9" name="object 31">
            <a:extLst>
              <a:ext uri="{FF2B5EF4-FFF2-40B4-BE49-F238E27FC236}">
                <a16:creationId xmlns:a16="http://schemas.microsoft.com/office/drawing/2014/main" id="{6C4A4A8D-886B-D4C1-F441-DDF1987E685A}"/>
              </a:ext>
            </a:extLst>
          </p:cNvPr>
          <p:cNvSpPr txBox="1"/>
          <p:nvPr/>
        </p:nvSpPr>
        <p:spPr>
          <a:xfrm>
            <a:off x="2964190" y="3141557"/>
            <a:ext cx="1823107" cy="4443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960" marR="5080" indent="-48895" algn="ctr">
              <a:lnSpc>
                <a:spcPct val="100000"/>
              </a:lnSpc>
              <a:spcBef>
                <a:spcPts val="105"/>
              </a:spcBef>
            </a:pPr>
            <a:r>
              <a:rPr lang="en-US" sz="1400" b="1" dirty="0"/>
              <a:t>Shared HR estimation (FFT)</a:t>
            </a:r>
            <a:endParaRPr sz="1400" b="1" dirty="0">
              <a:latin typeface="Calibri"/>
              <a:cs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D67884-C2BC-6B20-3576-340C6A19F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855" y="3360832"/>
            <a:ext cx="716745" cy="819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47026-7056-FF2F-8286-5FE1F091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523F35-5C3B-EEAE-E67B-65A91826148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24840" y="685800"/>
            <a:ext cx="106527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sz="3600" dirty="0"/>
              <a:t>FFT Spectrum Comparison of Green, POS and CHROM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2380D8A-C537-4C2F-973B-9ED42005062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fa-IR" spc="-50" dirty="0"/>
              <a:t>3</a:t>
            </a:r>
            <a:endParaRPr spc="-5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FC75583-B062-EB5C-B217-858175BD1F7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BA55AF-171D-F122-C06E-69F515C2C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79" y="1417146"/>
            <a:ext cx="8440421" cy="24690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B3D7A-CEF6-E3A4-7253-4DEDD1DAD5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3"/>
          <a:stretch>
            <a:fillRect/>
          </a:stretch>
        </p:blipFill>
        <p:spPr>
          <a:xfrm>
            <a:off x="398779" y="3600910"/>
            <a:ext cx="8440421" cy="279989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0F43B3B-556F-261F-2520-248E0047CB61}"/>
              </a:ext>
            </a:extLst>
          </p:cNvPr>
          <p:cNvSpPr txBox="1"/>
          <p:nvPr/>
        </p:nvSpPr>
        <p:spPr>
          <a:xfrm>
            <a:off x="8839200" y="2031249"/>
            <a:ext cx="38862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observations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• Same preprocessing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• Green has weaker peak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• POS and CHROM generate stronger peaks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• CHROM becomes more competitive under motion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6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2642-A042-7910-6A6E-A9554DFC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1A37D9E-526E-82D9-DDE8-E7E8B92A08A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CD1D663-CB0D-4DA7-76DF-C027ACFCEB2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CAB3F6-E910-3CF0-F96F-B5BC1B9F6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535" y="576453"/>
            <a:ext cx="8046084" cy="384721"/>
          </a:xfrm>
        </p:spPr>
        <p:txBody>
          <a:bodyPr/>
          <a:lstStyle/>
          <a:p>
            <a:r>
              <a:rPr lang="en-US" dirty="0"/>
              <a:t>Green vs POS vs CHROM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48041F-5008-D33E-9258-2DC7FD3402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221524"/>
              </p:ext>
            </p:extLst>
          </p:nvPr>
        </p:nvGraphicFramePr>
        <p:xfrm>
          <a:off x="990600" y="1708610"/>
          <a:ext cx="9637064" cy="1828800"/>
        </p:xfrm>
        <a:graphic>
          <a:graphicData uri="http://schemas.openxmlformats.org/drawingml/2006/table">
            <a:tbl>
              <a:tblPr>
                <a:tableStyleId>{1FECB4D8-DB02-4DC6-A0A2-4F2EBAE1DC90}</a:tableStyleId>
              </a:tblPr>
              <a:tblGrid>
                <a:gridCol w="2409266">
                  <a:extLst>
                    <a:ext uri="{9D8B030D-6E8A-4147-A177-3AD203B41FA5}">
                      <a16:colId xmlns:a16="http://schemas.microsoft.com/office/drawing/2014/main" val="3874572105"/>
                    </a:ext>
                  </a:extLst>
                </a:gridCol>
                <a:gridCol w="2409266">
                  <a:extLst>
                    <a:ext uri="{9D8B030D-6E8A-4147-A177-3AD203B41FA5}">
                      <a16:colId xmlns:a16="http://schemas.microsoft.com/office/drawing/2014/main" val="2845752041"/>
                    </a:ext>
                  </a:extLst>
                </a:gridCol>
                <a:gridCol w="2409266">
                  <a:extLst>
                    <a:ext uri="{9D8B030D-6E8A-4147-A177-3AD203B41FA5}">
                      <a16:colId xmlns:a16="http://schemas.microsoft.com/office/drawing/2014/main" val="128539474"/>
                    </a:ext>
                  </a:extLst>
                </a:gridCol>
                <a:gridCol w="2409266">
                  <a:extLst>
                    <a:ext uri="{9D8B030D-6E8A-4147-A177-3AD203B41FA5}">
                      <a16:colId xmlns:a16="http://schemas.microsoft.com/office/drawing/2014/main" val="2257068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CHROM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08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Uses Green channel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1788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Uses RGB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673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Motion robustness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Baseline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(expected)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8281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Computational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389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03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9877" y="438982"/>
            <a:ext cx="2514599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sz="3200" dirty="0"/>
              <a:t>Stable Results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fa-IR" spc="-50" dirty="0"/>
              <a:t>5</a:t>
            </a:r>
            <a:endParaRPr spc="-50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5667382"/>
            <a:ext cx="1050994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POS achieved the lowest average MAE in stable recordings, although the three methods remained relatively close.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D9CDA8-77CC-6B27-625B-E4A41A43A4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05866"/>
              </p:ext>
            </p:extLst>
          </p:nvPr>
        </p:nvGraphicFramePr>
        <p:xfrm>
          <a:off x="762000" y="1404335"/>
          <a:ext cx="5990728" cy="209478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497682">
                  <a:extLst>
                    <a:ext uri="{9D8B030D-6E8A-4147-A177-3AD203B41FA5}">
                      <a16:colId xmlns:a16="http://schemas.microsoft.com/office/drawing/2014/main" val="3843936453"/>
                    </a:ext>
                  </a:extLst>
                </a:gridCol>
                <a:gridCol w="1497682">
                  <a:extLst>
                    <a:ext uri="{9D8B030D-6E8A-4147-A177-3AD203B41FA5}">
                      <a16:colId xmlns:a16="http://schemas.microsoft.com/office/drawing/2014/main" val="2574141802"/>
                    </a:ext>
                  </a:extLst>
                </a:gridCol>
                <a:gridCol w="1497682">
                  <a:extLst>
                    <a:ext uri="{9D8B030D-6E8A-4147-A177-3AD203B41FA5}">
                      <a16:colId xmlns:a16="http://schemas.microsoft.com/office/drawing/2014/main" val="174726775"/>
                    </a:ext>
                  </a:extLst>
                </a:gridCol>
                <a:gridCol w="1497682">
                  <a:extLst>
                    <a:ext uri="{9D8B030D-6E8A-4147-A177-3AD203B41FA5}">
                      <a16:colId xmlns:a16="http://schemas.microsoft.com/office/drawing/2014/main" val="3873327927"/>
                    </a:ext>
                  </a:extLst>
                </a:gridCol>
              </a:tblGrid>
              <a:tr h="7770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Within ±3 BPM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Within ±5 BPM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4928359"/>
                  </a:ext>
                </a:extLst>
              </a:tr>
              <a:tr h="439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2.82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57.1%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85.7%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173576"/>
                  </a:ext>
                </a:extLst>
              </a:tr>
              <a:tr h="439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2.67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57.1%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92.9%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3245797"/>
                  </a:ext>
                </a:extLst>
              </a:tr>
              <a:tr h="439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57.1%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85.7%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697615"/>
                  </a:ext>
                </a:extLst>
              </a:tr>
            </a:tbl>
          </a:graphicData>
        </a:graphic>
      </p:graphicFrame>
      <p:grpSp>
        <p:nvGrpSpPr>
          <p:cNvPr id="9" name="object 28">
            <a:extLst>
              <a:ext uri="{FF2B5EF4-FFF2-40B4-BE49-F238E27FC236}">
                <a16:creationId xmlns:a16="http://schemas.microsoft.com/office/drawing/2014/main" id="{93C44503-BCDF-98FA-5DCB-B1DA166F4646}"/>
              </a:ext>
            </a:extLst>
          </p:cNvPr>
          <p:cNvGrpSpPr/>
          <p:nvPr/>
        </p:nvGrpSpPr>
        <p:grpSpPr>
          <a:xfrm>
            <a:off x="762000" y="3910410"/>
            <a:ext cx="3974531" cy="1636642"/>
            <a:chOff x="-7820370" y="3770639"/>
            <a:chExt cx="5000625" cy="1636642"/>
          </a:xfrm>
        </p:grpSpPr>
        <p:sp>
          <p:nvSpPr>
            <p:cNvPr id="10" name="object 29">
              <a:extLst>
                <a:ext uri="{FF2B5EF4-FFF2-40B4-BE49-F238E27FC236}">
                  <a16:creationId xmlns:a16="http://schemas.microsoft.com/office/drawing/2014/main" id="{741DDBFD-BFB9-F194-D828-76FB48E4B3CF}"/>
                </a:ext>
              </a:extLst>
            </p:cNvPr>
            <p:cNvSpPr/>
            <p:nvPr/>
          </p:nvSpPr>
          <p:spPr>
            <a:xfrm>
              <a:off x="-7820370" y="3782562"/>
              <a:ext cx="5000625" cy="1617345"/>
            </a:xfrm>
            <a:custGeom>
              <a:avLst/>
              <a:gdLst/>
              <a:ahLst/>
              <a:cxnLst/>
              <a:rect l="l" t="t" r="r" b="b"/>
              <a:pathLst>
                <a:path w="5000625" h="1617345">
                  <a:moveTo>
                    <a:pt x="4926710" y="0"/>
                  </a:moveTo>
                  <a:lnTo>
                    <a:pt x="73494" y="0"/>
                  </a:lnTo>
                  <a:lnTo>
                    <a:pt x="44887" y="5774"/>
                  </a:lnTo>
                  <a:lnTo>
                    <a:pt x="21526" y="21526"/>
                  </a:lnTo>
                  <a:lnTo>
                    <a:pt x="5775" y="44898"/>
                  </a:lnTo>
                  <a:lnTo>
                    <a:pt x="0" y="73532"/>
                  </a:lnTo>
                  <a:lnTo>
                    <a:pt x="0" y="1543431"/>
                  </a:lnTo>
                  <a:lnTo>
                    <a:pt x="5775" y="1572065"/>
                  </a:lnTo>
                  <a:lnTo>
                    <a:pt x="21526" y="1595437"/>
                  </a:lnTo>
                  <a:lnTo>
                    <a:pt x="44887" y="1611189"/>
                  </a:lnTo>
                  <a:lnTo>
                    <a:pt x="73494" y="1616964"/>
                  </a:lnTo>
                  <a:lnTo>
                    <a:pt x="4926710" y="1616964"/>
                  </a:lnTo>
                  <a:lnTo>
                    <a:pt x="4955345" y="1611189"/>
                  </a:lnTo>
                  <a:lnTo>
                    <a:pt x="4978717" y="1595437"/>
                  </a:lnTo>
                  <a:lnTo>
                    <a:pt x="4994469" y="1572065"/>
                  </a:lnTo>
                  <a:lnTo>
                    <a:pt x="5000244" y="1543431"/>
                  </a:lnTo>
                  <a:lnTo>
                    <a:pt x="5000244" y="73532"/>
                  </a:lnTo>
                  <a:lnTo>
                    <a:pt x="4994469" y="44898"/>
                  </a:lnTo>
                  <a:lnTo>
                    <a:pt x="4978717" y="21526"/>
                  </a:lnTo>
                  <a:lnTo>
                    <a:pt x="4955345" y="5774"/>
                  </a:lnTo>
                  <a:lnTo>
                    <a:pt x="49267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31">
              <a:extLst>
                <a:ext uri="{FF2B5EF4-FFF2-40B4-BE49-F238E27FC236}">
                  <a16:creationId xmlns:a16="http://schemas.microsoft.com/office/drawing/2014/main" id="{E11134F1-1231-7925-7F12-C0F8DD518BD3}"/>
                </a:ext>
              </a:extLst>
            </p:cNvPr>
            <p:cNvSpPr/>
            <p:nvPr/>
          </p:nvSpPr>
          <p:spPr>
            <a:xfrm>
              <a:off x="-7782906" y="3789936"/>
              <a:ext cx="74930" cy="1617345"/>
            </a:xfrm>
            <a:custGeom>
              <a:avLst/>
              <a:gdLst/>
              <a:ahLst/>
              <a:cxnLst/>
              <a:rect l="l" t="t" r="r" b="b"/>
              <a:pathLst>
                <a:path w="74930" h="1617345">
                  <a:moveTo>
                    <a:pt x="74675" y="0"/>
                  </a:moveTo>
                  <a:lnTo>
                    <a:pt x="0" y="0"/>
                  </a:lnTo>
                  <a:lnTo>
                    <a:pt x="0" y="1616964"/>
                  </a:lnTo>
                  <a:lnTo>
                    <a:pt x="74675" y="1616964"/>
                  </a:lnTo>
                  <a:lnTo>
                    <a:pt x="74675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2">
              <a:extLst>
                <a:ext uri="{FF2B5EF4-FFF2-40B4-BE49-F238E27FC236}">
                  <a16:creationId xmlns:a16="http://schemas.microsoft.com/office/drawing/2014/main" id="{50BE3BA7-C08F-D032-1033-908E0CDA2022}"/>
                </a:ext>
              </a:extLst>
            </p:cNvPr>
            <p:cNvSpPr/>
            <p:nvPr/>
          </p:nvSpPr>
          <p:spPr>
            <a:xfrm>
              <a:off x="-7820370" y="3770639"/>
              <a:ext cx="74930" cy="1617345"/>
            </a:xfrm>
            <a:custGeom>
              <a:avLst/>
              <a:gdLst/>
              <a:ahLst/>
              <a:cxnLst/>
              <a:rect l="l" t="t" r="r" b="b"/>
              <a:pathLst>
                <a:path w="74930" h="1617345">
                  <a:moveTo>
                    <a:pt x="0" y="1616964"/>
                  </a:moveTo>
                  <a:lnTo>
                    <a:pt x="74675" y="1616964"/>
                  </a:lnTo>
                  <a:lnTo>
                    <a:pt x="74675" y="0"/>
                  </a:lnTo>
                  <a:lnTo>
                    <a:pt x="0" y="0"/>
                  </a:lnTo>
                  <a:lnTo>
                    <a:pt x="0" y="1616964"/>
                  </a:lnTo>
                  <a:close/>
                </a:path>
              </a:pathLst>
            </a:custGeom>
            <a:ln w="1270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426FCA1-42B8-4784-241F-D05FFC19A47D}"/>
              </a:ext>
            </a:extLst>
          </p:cNvPr>
          <p:cNvSpPr txBox="1"/>
          <p:nvPr/>
        </p:nvSpPr>
        <p:spPr>
          <a:xfrm>
            <a:off x="1103363" y="3906761"/>
            <a:ext cx="3555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Ranking Comparison (Stable):</a:t>
            </a:r>
          </a:p>
          <a:p>
            <a:endParaRPr lang="en-US" dirty="0"/>
          </a:p>
          <a:p>
            <a:r>
              <a:rPr lang="en-US" dirty="0"/>
              <a:t>1. POS</a:t>
            </a:r>
          </a:p>
          <a:p>
            <a:r>
              <a:rPr lang="en-US" dirty="0"/>
              <a:t>2. CHROM</a:t>
            </a:r>
          </a:p>
          <a:p>
            <a:r>
              <a:rPr lang="en-US" dirty="0"/>
              <a:t>3. Green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BF15621-D3C9-7154-2393-BFBDDFAD8D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74" r="20430" b="59018"/>
          <a:stretch>
            <a:fillRect/>
          </a:stretch>
        </p:blipFill>
        <p:spPr>
          <a:xfrm>
            <a:off x="7385837" y="3158942"/>
            <a:ext cx="4044163" cy="236888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E31FF32-2123-5190-516C-11354C7AB4ED}"/>
              </a:ext>
            </a:extLst>
          </p:cNvPr>
          <p:cNvSpPr txBox="1"/>
          <p:nvPr/>
        </p:nvSpPr>
        <p:spPr>
          <a:xfrm>
            <a:off x="8382000" y="2392281"/>
            <a:ext cx="2349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Recording</a:t>
            </a:r>
            <a:r>
              <a:rPr lang="fa-IR" dirty="0"/>
              <a:t>:</a:t>
            </a:r>
          </a:p>
          <a:p>
            <a:r>
              <a:rPr lang="en-US" dirty="0"/>
              <a:t>GT=79.5 BPM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79" y="6580733"/>
            <a:ext cx="1499870" cy="124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50" spc="10" dirty="0">
                <a:solidFill>
                  <a:srgbClr val="63748A"/>
                </a:solidFill>
                <a:latin typeface="Calibri"/>
                <a:cs typeface="Calibri"/>
              </a:rPr>
              <a:t>Adaptive</a:t>
            </a:r>
            <a:r>
              <a:rPr sz="650" spc="75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63748A"/>
                </a:solidFill>
                <a:latin typeface="Calibri"/>
                <a:cs typeface="Calibri"/>
              </a:rPr>
              <a:t>rPPG</a:t>
            </a:r>
            <a:r>
              <a:rPr sz="650" spc="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63748A"/>
                </a:solidFill>
                <a:latin typeface="Calibri"/>
                <a:cs typeface="Calibri"/>
              </a:rPr>
              <a:t>Signal</a:t>
            </a:r>
            <a:r>
              <a:rPr sz="650" spc="3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650" spc="10" dirty="0">
                <a:solidFill>
                  <a:srgbClr val="63748A"/>
                </a:solidFill>
                <a:latin typeface="Calibri"/>
                <a:cs typeface="Calibri"/>
              </a:rPr>
              <a:t>Conditioning</a:t>
            </a:r>
            <a:r>
              <a:rPr sz="650" spc="40" dirty="0">
                <a:solidFill>
                  <a:srgbClr val="63748A"/>
                </a:solidFill>
                <a:latin typeface="Calibri"/>
                <a:cs typeface="Calibri"/>
              </a:rPr>
              <a:t> </a:t>
            </a:r>
            <a:r>
              <a:rPr sz="650" spc="-10" dirty="0">
                <a:solidFill>
                  <a:srgbClr val="63748A"/>
                </a:solidFill>
                <a:latin typeface="Calibri"/>
                <a:cs typeface="Calibri"/>
              </a:rPr>
              <a:t>Router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844378" y="462687"/>
            <a:ext cx="3391930" cy="654282"/>
          </a:xfrm>
          <a:prstGeom prst="rect">
            <a:avLst/>
          </a:prstGeom>
        </p:spPr>
        <p:txBody>
          <a:bodyPr vert="horz" wrap="square" lIns="0" tIns="99314" rIns="0" bIns="0" rtlCol="0">
            <a:spAutoFit/>
          </a:bodyPr>
          <a:lstStyle/>
          <a:p>
            <a:pPr>
              <a:buNone/>
            </a:pPr>
            <a:r>
              <a:rPr lang="en-US" sz="3600" dirty="0"/>
              <a:t>Zigzag Results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60218" y="5884189"/>
            <a:ext cx="914400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000" dirty="0"/>
              <a:t>Green remained the most robust method under motion.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CE2E67-A02C-1FDC-B1AD-97F000B1D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54033"/>
              </p:ext>
            </p:extLst>
          </p:nvPr>
        </p:nvGraphicFramePr>
        <p:xfrm>
          <a:off x="647302" y="1371600"/>
          <a:ext cx="6249788" cy="226679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62447">
                  <a:extLst>
                    <a:ext uri="{9D8B030D-6E8A-4147-A177-3AD203B41FA5}">
                      <a16:colId xmlns:a16="http://schemas.microsoft.com/office/drawing/2014/main" val="1813832627"/>
                    </a:ext>
                  </a:extLst>
                </a:gridCol>
                <a:gridCol w="1562447">
                  <a:extLst>
                    <a:ext uri="{9D8B030D-6E8A-4147-A177-3AD203B41FA5}">
                      <a16:colId xmlns:a16="http://schemas.microsoft.com/office/drawing/2014/main" val="3941298946"/>
                    </a:ext>
                  </a:extLst>
                </a:gridCol>
                <a:gridCol w="1562447">
                  <a:extLst>
                    <a:ext uri="{9D8B030D-6E8A-4147-A177-3AD203B41FA5}">
                      <a16:colId xmlns:a16="http://schemas.microsoft.com/office/drawing/2014/main" val="1346822939"/>
                    </a:ext>
                  </a:extLst>
                </a:gridCol>
                <a:gridCol w="1562447">
                  <a:extLst>
                    <a:ext uri="{9D8B030D-6E8A-4147-A177-3AD203B41FA5}">
                      <a16:colId xmlns:a16="http://schemas.microsoft.com/office/drawing/2014/main" val="4078674866"/>
                    </a:ext>
                  </a:extLst>
                </a:gridCol>
              </a:tblGrid>
              <a:tr h="83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Within ±3 BPM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Within ±5 BPM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953534"/>
                  </a:ext>
                </a:extLst>
              </a:tr>
              <a:tr h="47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Green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1.74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91.7%</a:t>
                      </a:r>
                      <a:endParaRPr lang="en-US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100%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722035"/>
                  </a:ext>
                </a:extLst>
              </a:tr>
              <a:tr h="47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2.04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83.3%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100%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57293"/>
                  </a:ext>
                </a:extLst>
              </a:tr>
              <a:tr h="476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CHROM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3.75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50.0%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75.0%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0463469"/>
                  </a:ext>
                </a:extLst>
              </a:tr>
            </a:tbl>
          </a:graphicData>
        </a:graphic>
      </p:graphicFrame>
      <p:grpSp>
        <p:nvGrpSpPr>
          <p:cNvPr id="10" name="object 35">
            <a:extLst>
              <a:ext uri="{FF2B5EF4-FFF2-40B4-BE49-F238E27FC236}">
                <a16:creationId xmlns:a16="http://schemas.microsoft.com/office/drawing/2014/main" id="{F39A3987-EDCF-C562-D51E-8302C0398F51}"/>
              </a:ext>
            </a:extLst>
          </p:cNvPr>
          <p:cNvGrpSpPr/>
          <p:nvPr/>
        </p:nvGrpSpPr>
        <p:grpSpPr>
          <a:xfrm>
            <a:off x="664508" y="4011880"/>
            <a:ext cx="4267200" cy="1625600"/>
            <a:chOff x="6277102" y="3407409"/>
            <a:chExt cx="4950460" cy="1625600"/>
          </a:xfrm>
        </p:grpSpPr>
        <p:sp>
          <p:nvSpPr>
            <p:cNvPr id="11" name="object 36">
              <a:extLst>
                <a:ext uri="{FF2B5EF4-FFF2-40B4-BE49-F238E27FC236}">
                  <a16:creationId xmlns:a16="http://schemas.microsoft.com/office/drawing/2014/main" id="{98DE005E-DC7A-4440-AF7E-4837E967657C}"/>
                </a:ext>
              </a:extLst>
            </p:cNvPr>
            <p:cNvSpPr/>
            <p:nvPr/>
          </p:nvSpPr>
          <p:spPr>
            <a:xfrm>
              <a:off x="6283452" y="3413759"/>
              <a:ext cx="4937760" cy="1612900"/>
            </a:xfrm>
            <a:custGeom>
              <a:avLst/>
              <a:gdLst/>
              <a:ahLst/>
              <a:cxnLst/>
              <a:rect l="l" t="t" r="r" b="b"/>
              <a:pathLst>
                <a:path w="4937759" h="1612900">
                  <a:moveTo>
                    <a:pt x="4864481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8"/>
                  </a:lnTo>
                  <a:lnTo>
                    <a:pt x="0" y="1539113"/>
                  </a:lnTo>
                  <a:lnTo>
                    <a:pt x="5752" y="1567654"/>
                  </a:lnTo>
                  <a:lnTo>
                    <a:pt x="21447" y="1590944"/>
                  </a:lnTo>
                  <a:lnTo>
                    <a:pt x="44737" y="1606639"/>
                  </a:lnTo>
                  <a:lnTo>
                    <a:pt x="73278" y="1612391"/>
                  </a:lnTo>
                  <a:lnTo>
                    <a:pt x="4864481" y="1612391"/>
                  </a:lnTo>
                  <a:lnTo>
                    <a:pt x="4893022" y="1606639"/>
                  </a:lnTo>
                  <a:lnTo>
                    <a:pt x="4916312" y="1590944"/>
                  </a:lnTo>
                  <a:lnTo>
                    <a:pt x="4932007" y="1567654"/>
                  </a:lnTo>
                  <a:lnTo>
                    <a:pt x="4937759" y="1539113"/>
                  </a:lnTo>
                  <a:lnTo>
                    <a:pt x="4937759" y="73278"/>
                  </a:lnTo>
                  <a:lnTo>
                    <a:pt x="4932007" y="44737"/>
                  </a:lnTo>
                  <a:lnTo>
                    <a:pt x="4916312" y="21447"/>
                  </a:lnTo>
                  <a:lnTo>
                    <a:pt x="4893022" y="5752"/>
                  </a:lnTo>
                  <a:lnTo>
                    <a:pt x="48644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7">
              <a:extLst>
                <a:ext uri="{FF2B5EF4-FFF2-40B4-BE49-F238E27FC236}">
                  <a16:creationId xmlns:a16="http://schemas.microsoft.com/office/drawing/2014/main" id="{2B2A326E-FD87-8AA8-D80B-CD14B82C6630}"/>
                </a:ext>
              </a:extLst>
            </p:cNvPr>
            <p:cNvSpPr/>
            <p:nvPr/>
          </p:nvSpPr>
          <p:spPr>
            <a:xfrm>
              <a:off x="6283452" y="3413759"/>
              <a:ext cx="4937760" cy="1612900"/>
            </a:xfrm>
            <a:custGeom>
              <a:avLst/>
              <a:gdLst/>
              <a:ahLst/>
              <a:cxnLst/>
              <a:rect l="l" t="t" r="r" b="b"/>
              <a:pathLst>
                <a:path w="4937759" h="1612900">
                  <a:moveTo>
                    <a:pt x="0" y="73278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8" y="0"/>
                  </a:lnTo>
                  <a:lnTo>
                    <a:pt x="4864481" y="0"/>
                  </a:lnTo>
                  <a:lnTo>
                    <a:pt x="4893022" y="5752"/>
                  </a:lnTo>
                  <a:lnTo>
                    <a:pt x="4916312" y="21447"/>
                  </a:lnTo>
                  <a:lnTo>
                    <a:pt x="4932007" y="44737"/>
                  </a:lnTo>
                  <a:lnTo>
                    <a:pt x="4937759" y="73278"/>
                  </a:lnTo>
                  <a:lnTo>
                    <a:pt x="4937759" y="1539113"/>
                  </a:lnTo>
                  <a:lnTo>
                    <a:pt x="4932007" y="1567654"/>
                  </a:lnTo>
                  <a:lnTo>
                    <a:pt x="4916312" y="1590944"/>
                  </a:lnTo>
                  <a:lnTo>
                    <a:pt x="4893022" y="1606639"/>
                  </a:lnTo>
                  <a:lnTo>
                    <a:pt x="4864481" y="1612391"/>
                  </a:lnTo>
                  <a:lnTo>
                    <a:pt x="73278" y="1612391"/>
                  </a:lnTo>
                  <a:lnTo>
                    <a:pt x="44737" y="1606639"/>
                  </a:lnTo>
                  <a:lnTo>
                    <a:pt x="21447" y="1590944"/>
                  </a:lnTo>
                  <a:lnTo>
                    <a:pt x="5752" y="1567654"/>
                  </a:lnTo>
                  <a:lnTo>
                    <a:pt x="0" y="1539113"/>
                  </a:lnTo>
                  <a:lnTo>
                    <a:pt x="0" y="7327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8">
              <a:extLst>
                <a:ext uri="{FF2B5EF4-FFF2-40B4-BE49-F238E27FC236}">
                  <a16:creationId xmlns:a16="http://schemas.microsoft.com/office/drawing/2014/main" id="{F9359F62-43F0-A147-B3A8-AC5132AE6970}"/>
                </a:ext>
              </a:extLst>
            </p:cNvPr>
            <p:cNvSpPr/>
            <p:nvPr/>
          </p:nvSpPr>
          <p:spPr>
            <a:xfrm>
              <a:off x="6283452" y="3413759"/>
              <a:ext cx="64135" cy="1612900"/>
            </a:xfrm>
            <a:custGeom>
              <a:avLst/>
              <a:gdLst/>
              <a:ahLst/>
              <a:cxnLst/>
              <a:rect l="l" t="t" r="r" b="b"/>
              <a:pathLst>
                <a:path w="64135" h="1612900">
                  <a:moveTo>
                    <a:pt x="64008" y="0"/>
                  </a:moveTo>
                  <a:lnTo>
                    <a:pt x="0" y="0"/>
                  </a:lnTo>
                  <a:lnTo>
                    <a:pt x="0" y="1612391"/>
                  </a:lnTo>
                  <a:lnTo>
                    <a:pt x="64008" y="1612391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39">
              <a:extLst>
                <a:ext uri="{FF2B5EF4-FFF2-40B4-BE49-F238E27FC236}">
                  <a16:creationId xmlns:a16="http://schemas.microsoft.com/office/drawing/2014/main" id="{9462EA75-B85C-EDDF-85CD-A93A5DAC3C04}"/>
                </a:ext>
              </a:extLst>
            </p:cNvPr>
            <p:cNvSpPr/>
            <p:nvPr/>
          </p:nvSpPr>
          <p:spPr>
            <a:xfrm>
              <a:off x="6283452" y="3413759"/>
              <a:ext cx="64135" cy="1612900"/>
            </a:xfrm>
            <a:custGeom>
              <a:avLst/>
              <a:gdLst/>
              <a:ahLst/>
              <a:cxnLst/>
              <a:rect l="l" t="t" r="r" b="b"/>
              <a:pathLst>
                <a:path w="64135" h="1612900">
                  <a:moveTo>
                    <a:pt x="0" y="1612391"/>
                  </a:moveTo>
                  <a:lnTo>
                    <a:pt x="64008" y="1612391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612391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EFD871F-0E7C-E659-401E-3CAEA2E6EDCE}"/>
              </a:ext>
            </a:extLst>
          </p:cNvPr>
          <p:cNvSpPr txBox="1"/>
          <p:nvPr/>
        </p:nvSpPr>
        <p:spPr>
          <a:xfrm>
            <a:off x="832088" y="408674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Ranking Comparison( Zigzag):</a:t>
            </a:r>
          </a:p>
          <a:p>
            <a:endParaRPr lang="en-US" dirty="0"/>
          </a:p>
          <a:p>
            <a:r>
              <a:rPr lang="en-US" dirty="0"/>
              <a:t>1. Green</a:t>
            </a:r>
          </a:p>
          <a:p>
            <a:r>
              <a:rPr lang="en-US" dirty="0"/>
              <a:t>2. POS</a:t>
            </a:r>
          </a:p>
          <a:p>
            <a:r>
              <a:rPr lang="en-US" dirty="0"/>
              <a:t>3. CHROM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097B4E8-D3F5-A8CD-B5B7-0AB2135011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016" b="26903"/>
          <a:stretch>
            <a:fillRect/>
          </a:stretch>
        </p:blipFill>
        <p:spPr>
          <a:xfrm>
            <a:off x="7459593" y="3479583"/>
            <a:ext cx="4256254" cy="257302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28BCB9-B0FE-3F15-952E-D27D16CB938B}"/>
              </a:ext>
            </a:extLst>
          </p:cNvPr>
          <p:cNvSpPr txBox="1"/>
          <p:nvPr/>
        </p:nvSpPr>
        <p:spPr>
          <a:xfrm>
            <a:off x="8801498" y="2706722"/>
            <a:ext cx="274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Recording</a:t>
            </a:r>
            <a:r>
              <a:rPr lang="fa-IR" dirty="0"/>
              <a:t>:</a:t>
            </a:r>
          </a:p>
          <a:p>
            <a:r>
              <a:rPr lang="en-US" dirty="0"/>
              <a:t>GT = 83 BPM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957145FD-146E-BF11-D3A9-80C388D82A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fa-IR" spc="-50" dirty="0"/>
              <a:t>6</a:t>
            </a:r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object 28"/>
          <p:cNvGrpSpPr/>
          <p:nvPr/>
        </p:nvGrpSpPr>
        <p:grpSpPr>
          <a:xfrm>
            <a:off x="744981" y="914400"/>
            <a:ext cx="5013325" cy="4123055"/>
            <a:chOff x="744981" y="3407409"/>
            <a:chExt cx="5013325" cy="1630045"/>
          </a:xfrm>
        </p:grpSpPr>
        <p:sp>
          <p:nvSpPr>
            <p:cNvPr id="29" name="object 29"/>
            <p:cNvSpPr/>
            <p:nvPr/>
          </p:nvSpPr>
          <p:spPr>
            <a:xfrm>
              <a:off x="751331" y="3413759"/>
              <a:ext cx="5000625" cy="1617345"/>
            </a:xfrm>
            <a:custGeom>
              <a:avLst/>
              <a:gdLst/>
              <a:ahLst/>
              <a:cxnLst/>
              <a:rect l="l" t="t" r="r" b="b"/>
              <a:pathLst>
                <a:path w="5000625" h="1617345">
                  <a:moveTo>
                    <a:pt x="4926710" y="0"/>
                  </a:moveTo>
                  <a:lnTo>
                    <a:pt x="73494" y="0"/>
                  </a:lnTo>
                  <a:lnTo>
                    <a:pt x="44887" y="5774"/>
                  </a:lnTo>
                  <a:lnTo>
                    <a:pt x="21526" y="21526"/>
                  </a:lnTo>
                  <a:lnTo>
                    <a:pt x="5775" y="44898"/>
                  </a:lnTo>
                  <a:lnTo>
                    <a:pt x="0" y="73532"/>
                  </a:lnTo>
                  <a:lnTo>
                    <a:pt x="0" y="1543431"/>
                  </a:lnTo>
                  <a:lnTo>
                    <a:pt x="5775" y="1572065"/>
                  </a:lnTo>
                  <a:lnTo>
                    <a:pt x="21526" y="1595437"/>
                  </a:lnTo>
                  <a:lnTo>
                    <a:pt x="44887" y="1611189"/>
                  </a:lnTo>
                  <a:lnTo>
                    <a:pt x="73494" y="1616964"/>
                  </a:lnTo>
                  <a:lnTo>
                    <a:pt x="4926710" y="1616964"/>
                  </a:lnTo>
                  <a:lnTo>
                    <a:pt x="4955345" y="1611189"/>
                  </a:lnTo>
                  <a:lnTo>
                    <a:pt x="4978717" y="1595437"/>
                  </a:lnTo>
                  <a:lnTo>
                    <a:pt x="4994469" y="1572065"/>
                  </a:lnTo>
                  <a:lnTo>
                    <a:pt x="5000244" y="1543431"/>
                  </a:lnTo>
                  <a:lnTo>
                    <a:pt x="5000244" y="73532"/>
                  </a:lnTo>
                  <a:lnTo>
                    <a:pt x="4994469" y="44898"/>
                  </a:lnTo>
                  <a:lnTo>
                    <a:pt x="4978717" y="21526"/>
                  </a:lnTo>
                  <a:lnTo>
                    <a:pt x="4955345" y="5774"/>
                  </a:lnTo>
                  <a:lnTo>
                    <a:pt x="49267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1331" y="3413759"/>
              <a:ext cx="5000625" cy="1617345"/>
            </a:xfrm>
            <a:custGeom>
              <a:avLst/>
              <a:gdLst/>
              <a:ahLst/>
              <a:cxnLst/>
              <a:rect l="l" t="t" r="r" b="b"/>
              <a:pathLst>
                <a:path w="5000625" h="1617345">
                  <a:moveTo>
                    <a:pt x="0" y="73532"/>
                  </a:moveTo>
                  <a:lnTo>
                    <a:pt x="5775" y="44898"/>
                  </a:lnTo>
                  <a:lnTo>
                    <a:pt x="21526" y="21526"/>
                  </a:lnTo>
                  <a:lnTo>
                    <a:pt x="44887" y="5774"/>
                  </a:lnTo>
                  <a:lnTo>
                    <a:pt x="73494" y="0"/>
                  </a:lnTo>
                  <a:lnTo>
                    <a:pt x="4926710" y="0"/>
                  </a:lnTo>
                  <a:lnTo>
                    <a:pt x="4955345" y="5774"/>
                  </a:lnTo>
                  <a:lnTo>
                    <a:pt x="4978717" y="21526"/>
                  </a:lnTo>
                  <a:lnTo>
                    <a:pt x="4994469" y="44898"/>
                  </a:lnTo>
                  <a:lnTo>
                    <a:pt x="5000244" y="73532"/>
                  </a:lnTo>
                  <a:lnTo>
                    <a:pt x="5000244" y="1543431"/>
                  </a:lnTo>
                  <a:lnTo>
                    <a:pt x="4994469" y="1572065"/>
                  </a:lnTo>
                  <a:lnTo>
                    <a:pt x="4978717" y="1595437"/>
                  </a:lnTo>
                  <a:lnTo>
                    <a:pt x="4955345" y="1611189"/>
                  </a:lnTo>
                  <a:lnTo>
                    <a:pt x="4926710" y="1616964"/>
                  </a:lnTo>
                  <a:lnTo>
                    <a:pt x="73494" y="1616964"/>
                  </a:lnTo>
                  <a:lnTo>
                    <a:pt x="44887" y="1611189"/>
                  </a:lnTo>
                  <a:lnTo>
                    <a:pt x="21526" y="1595437"/>
                  </a:lnTo>
                  <a:lnTo>
                    <a:pt x="5775" y="1572065"/>
                  </a:lnTo>
                  <a:lnTo>
                    <a:pt x="0" y="1543431"/>
                  </a:lnTo>
                  <a:lnTo>
                    <a:pt x="0" y="73532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1331" y="3413759"/>
              <a:ext cx="74930" cy="1617345"/>
            </a:xfrm>
            <a:custGeom>
              <a:avLst/>
              <a:gdLst/>
              <a:ahLst/>
              <a:cxnLst/>
              <a:rect l="l" t="t" r="r" b="b"/>
              <a:pathLst>
                <a:path w="74930" h="1617345">
                  <a:moveTo>
                    <a:pt x="74675" y="0"/>
                  </a:moveTo>
                  <a:lnTo>
                    <a:pt x="0" y="0"/>
                  </a:lnTo>
                  <a:lnTo>
                    <a:pt x="0" y="1616964"/>
                  </a:lnTo>
                  <a:lnTo>
                    <a:pt x="74675" y="1616964"/>
                  </a:lnTo>
                  <a:lnTo>
                    <a:pt x="74675" y="0"/>
                  </a:lnTo>
                  <a:close/>
                </a:path>
              </a:pathLst>
            </a:custGeom>
            <a:solidFill>
              <a:srgbClr val="24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1331" y="3413759"/>
              <a:ext cx="74930" cy="1617345"/>
            </a:xfrm>
            <a:custGeom>
              <a:avLst/>
              <a:gdLst/>
              <a:ahLst/>
              <a:cxnLst/>
              <a:rect l="l" t="t" r="r" b="b"/>
              <a:pathLst>
                <a:path w="74930" h="1617345">
                  <a:moveTo>
                    <a:pt x="0" y="1616964"/>
                  </a:moveTo>
                  <a:lnTo>
                    <a:pt x="74675" y="1616964"/>
                  </a:lnTo>
                  <a:lnTo>
                    <a:pt x="74675" y="0"/>
                  </a:lnTo>
                  <a:lnTo>
                    <a:pt x="0" y="0"/>
                  </a:lnTo>
                  <a:lnTo>
                    <a:pt x="0" y="1616964"/>
                  </a:lnTo>
                  <a:close/>
                </a:path>
              </a:pathLst>
            </a:custGeom>
            <a:ln w="12700">
              <a:solidFill>
                <a:srgbClr val="246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17550" y="1549649"/>
            <a:ext cx="4061968" cy="25038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lang="en-US" sz="2400" b="1" dirty="0"/>
              <a:t>Why CHROM Performs Well</a:t>
            </a:r>
          </a:p>
          <a:p>
            <a:pPr marL="13335">
              <a:lnSpc>
                <a:spcPct val="100000"/>
              </a:lnSpc>
              <a:spcBef>
                <a:spcPts val="105"/>
              </a:spcBef>
            </a:pPr>
            <a:endParaRPr lang="fa-IR" sz="2000" dirty="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105"/>
              </a:spcBef>
            </a:pPr>
            <a:endParaRPr lang="fa-IR" sz="2000" dirty="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105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29908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dirty="0"/>
              <a:t>Stable RGB relationships</a:t>
            </a:r>
          </a:p>
          <a:p>
            <a:pPr marL="29908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dirty="0"/>
              <a:t>Moderate illumination variation </a:t>
            </a:r>
          </a:p>
          <a:p>
            <a:pPr marL="29908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dirty="0"/>
              <a:t>Good ROI tracking </a:t>
            </a:r>
          </a:p>
          <a:p>
            <a:pPr marL="299085" indent="-28575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</a:pPr>
            <a:r>
              <a:rPr lang="en-US" dirty="0"/>
              <a:t>Correct spectral peak preserved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277102" y="942078"/>
            <a:ext cx="4950460" cy="4090931"/>
            <a:chOff x="6277102" y="3407409"/>
            <a:chExt cx="4950460" cy="1625600"/>
          </a:xfrm>
        </p:grpSpPr>
        <p:sp>
          <p:nvSpPr>
            <p:cNvPr id="36" name="object 36"/>
            <p:cNvSpPr/>
            <p:nvPr/>
          </p:nvSpPr>
          <p:spPr>
            <a:xfrm>
              <a:off x="6283452" y="3413759"/>
              <a:ext cx="4937760" cy="1612900"/>
            </a:xfrm>
            <a:custGeom>
              <a:avLst/>
              <a:gdLst/>
              <a:ahLst/>
              <a:cxnLst/>
              <a:rect l="l" t="t" r="r" b="b"/>
              <a:pathLst>
                <a:path w="4937759" h="1612900">
                  <a:moveTo>
                    <a:pt x="4864481" y="0"/>
                  </a:moveTo>
                  <a:lnTo>
                    <a:pt x="73278" y="0"/>
                  </a:lnTo>
                  <a:lnTo>
                    <a:pt x="44737" y="5752"/>
                  </a:lnTo>
                  <a:lnTo>
                    <a:pt x="21447" y="21447"/>
                  </a:lnTo>
                  <a:lnTo>
                    <a:pt x="5752" y="44737"/>
                  </a:lnTo>
                  <a:lnTo>
                    <a:pt x="0" y="73278"/>
                  </a:lnTo>
                  <a:lnTo>
                    <a:pt x="0" y="1539113"/>
                  </a:lnTo>
                  <a:lnTo>
                    <a:pt x="5752" y="1567654"/>
                  </a:lnTo>
                  <a:lnTo>
                    <a:pt x="21447" y="1590944"/>
                  </a:lnTo>
                  <a:lnTo>
                    <a:pt x="44737" y="1606639"/>
                  </a:lnTo>
                  <a:lnTo>
                    <a:pt x="73278" y="1612391"/>
                  </a:lnTo>
                  <a:lnTo>
                    <a:pt x="4864481" y="1612391"/>
                  </a:lnTo>
                  <a:lnTo>
                    <a:pt x="4893022" y="1606639"/>
                  </a:lnTo>
                  <a:lnTo>
                    <a:pt x="4916312" y="1590944"/>
                  </a:lnTo>
                  <a:lnTo>
                    <a:pt x="4932007" y="1567654"/>
                  </a:lnTo>
                  <a:lnTo>
                    <a:pt x="4937759" y="1539113"/>
                  </a:lnTo>
                  <a:lnTo>
                    <a:pt x="4937759" y="73278"/>
                  </a:lnTo>
                  <a:lnTo>
                    <a:pt x="4932007" y="44737"/>
                  </a:lnTo>
                  <a:lnTo>
                    <a:pt x="4916312" y="21447"/>
                  </a:lnTo>
                  <a:lnTo>
                    <a:pt x="4893022" y="5752"/>
                  </a:lnTo>
                  <a:lnTo>
                    <a:pt x="48644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83452" y="3413759"/>
              <a:ext cx="4937760" cy="1612900"/>
            </a:xfrm>
            <a:custGeom>
              <a:avLst/>
              <a:gdLst/>
              <a:ahLst/>
              <a:cxnLst/>
              <a:rect l="l" t="t" r="r" b="b"/>
              <a:pathLst>
                <a:path w="4937759" h="1612900">
                  <a:moveTo>
                    <a:pt x="0" y="73278"/>
                  </a:moveTo>
                  <a:lnTo>
                    <a:pt x="5752" y="44737"/>
                  </a:lnTo>
                  <a:lnTo>
                    <a:pt x="21447" y="21447"/>
                  </a:lnTo>
                  <a:lnTo>
                    <a:pt x="44737" y="5752"/>
                  </a:lnTo>
                  <a:lnTo>
                    <a:pt x="73278" y="0"/>
                  </a:lnTo>
                  <a:lnTo>
                    <a:pt x="4864481" y="0"/>
                  </a:lnTo>
                  <a:lnTo>
                    <a:pt x="4893022" y="5752"/>
                  </a:lnTo>
                  <a:lnTo>
                    <a:pt x="4916312" y="21447"/>
                  </a:lnTo>
                  <a:lnTo>
                    <a:pt x="4932007" y="44737"/>
                  </a:lnTo>
                  <a:lnTo>
                    <a:pt x="4937759" y="73278"/>
                  </a:lnTo>
                  <a:lnTo>
                    <a:pt x="4937759" y="1539113"/>
                  </a:lnTo>
                  <a:lnTo>
                    <a:pt x="4932007" y="1567654"/>
                  </a:lnTo>
                  <a:lnTo>
                    <a:pt x="4916312" y="1590944"/>
                  </a:lnTo>
                  <a:lnTo>
                    <a:pt x="4893022" y="1606639"/>
                  </a:lnTo>
                  <a:lnTo>
                    <a:pt x="4864481" y="1612391"/>
                  </a:lnTo>
                  <a:lnTo>
                    <a:pt x="73278" y="1612391"/>
                  </a:lnTo>
                  <a:lnTo>
                    <a:pt x="44737" y="1606639"/>
                  </a:lnTo>
                  <a:lnTo>
                    <a:pt x="21447" y="1590944"/>
                  </a:lnTo>
                  <a:lnTo>
                    <a:pt x="5752" y="1567654"/>
                  </a:lnTo>
                  <a:lnTo>
                    <a:pt x="0" y="1539113"/>
                  </a:lnTo>
                  <a:lnTo>
                    <a:pt x="0" y="73278"/>
                  </a:lnTo>
                  <a:close/>
                </a:path>
              </a:pathLst>
            </a:custGeom>
            <a:ln w="12700">
              <a:solidFill>
                <a:srgbClr val="E1E8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83452" y="3413759"/>
              <a:ext cx="64135" cy="1612900"/>
            </a:xfrm>
            <a:custGeom>
              <a:avLst/>
              <a:gdLst/>
              <a:ahLst/>
              <a:cxnLst/>
              <a:rect l="l" t="t" r="r" b="b"/>
              <a:pathLst>
                <a:path w="64135" h="1612900">
                  <a:moveTo>
                    <a:pt x="64008" y="0"/>
                  </a:moveTo>
                  <a:lnTo>
                    <a:pt x="0" y="0"/>
                  </a:lnTo>
                  <a:lnTo>
                    <a:pt x="0" y="1612391"/>
                  </a:lnTo>
                  <a:lnTo>
                    <a:pt x="64008" y="1612391"/>
                  </a:lnTo>
                  <a:lnTo>
                    <a:pt x="64008" y="0"/>
                  </a:lnTo>
                  <a:close/>
                </a:path>
              </a:pathLst>
            </a:custGeom>
            <a:solidFill>
              <a:srgbClr val="F873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283452" y="3413759"/>
              <a:ext cx="64135" cy="1612900"/>
            </a:xfrm>
            <a:custGeom>
              <a:avLst/>
              <a:gdLst/>
              <a:ahLst/>
              <a:cxnLst/>
              <a:rect l="l" t="t" r="r" b="b"/>
              <a:pathLst>
                <a:path w="64135" h="1612900">
                  <a:moveTo>
                    <a:pt x="0" y="1612391"/>
                  </a:moveTo>
                  <a:lnTo>
                    <a:pt x="64008" y="1612391"/>
                  </a:lnTo>
                  <a:lnTo>
                    <a:pt x="64008" y="0"/>
                  </a:lnTo>
                  <a:lnTo>
                    <a:pt x="0" y="0"/>
                  </a:lnTo>
                  <a:lnTo>
                    <a:pt x="0" y="1612391"/>
                  </a:lnTo>
                  <a:close/>
                </a:path>
              </a:pathLst>
            </a:custGeom>
            <a:ln w="12700">
              <a:solidFill>
                <a:srgbClr val="F8731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fa-IR" spc="-50" dirty="0"/>
              <a:t>7</a:t>
            </a:r>
            <a:endParaRPr spc="-50" dirty="0"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sp>
        <p:nvSpPr>
          <p:cNvPr id="44" name="object 33">
            <a:extLst>
              <a:ext uri="{FF2B5EF4-FFF2-40B4-BE49-F238E27FC236}">
                <a16:creationId xmlns:a16="http://schemas.microsoft.com/office/drawing/2014/main" id="{8FC5223D-DDC6-BF13-0075-E5A9E3568634}"/>
              </a:ext>
            </a:extLst>
          </p:cNvPr>
          <p:cNvSpPr txBox="1"/>
          <p:nvPr/>
        </p:nvSpPr>
        <p:spPr>
          <a:xfrm>
            <a:off x="6594349" y="1549649"/>
            <a:ext cx="4380101" cy="28757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400" b="1" dirty="0"/>
              <a:t>Why CHROM Sometimes Fails</a:t>
            </a:r>
          </a:p>
          <a:p>
            <a:endParaRPr lang="fa-IR" sz="2400" b="1" dirty="0"/>
          </a:p>
          <a:p>
            <a:endParaRPr lang="en-US" sz="2400" b="1" dirty="0"/>
          </a:p>
          <a:p>
            <a:endParaRPr lang="en-US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Motion-induced shading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ROI displacement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RGB channel ratio changes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Adaptive coefficient amplified noise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Wrong FFT peak selection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D32DE1-EA1A-56A9-64BC-5ABAD9CF9676}"/>
              </a:ext>
            </a:extLst>
          </p:cNvPr>
          <p:cNvSpPr txBox="1"/>
          <p:nvPr/>
        </p:nvSpPr>
        <p:spPr>
          <a:xfrm>
            <a:off x="826260" y="5267602"/>
            <a:ext cx="105275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CHROM performance strongly depends on color stability and accurate ROI tracking.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635634"/>
            <a:ext cx="4234182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800" dirty="0"/>
              <a:t>Conclusion</a:t>
            </a:r>
            <a:endParaRPr sz="2800" spc="-10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82341B3-E989-96B8-2CC1-40E2499363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925600"/>
              </p:ext>
            </p:extLst>
          </p:nvPr>
        </p:nvGraphicFramePr>
        <p:xfrm>
          <a:off x="873970" y="1493522"/>
          <a:ext cx="10723472" cy="2663660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5361736">
                  <a:extLst>
                    <a:ext uri="{9D8B030D-6E8A-4147-A177-3AD203B41FA5}">
                      <a16:colId xmlns:a16="http://schemas.microsoft.com/office/drawing/2014/main" val="3628364006"/>
                    </a:ext>
                  </a:extLst>
                </a:gridCol>
                <a:gridCol w="5361736">
                  <a:extLst>
                    <a:ext uri="{9D8B030D-6E8A-4147-A177-3AD203B41FA5}">
                      <a16:colId xmlns:a16="http://schemas.microsoft.com/office/drawing/2014/main" val="4209841745"/>
                    </a:ext>
                  </a:extLst>
                </a:gridCol>
              </a:tblGrid>
              <a:tr h="53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Best in stable?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POS</a:t>
                      </a:r>
                      <a:r>
                        <a:rPr lang="en-US" sz="2400" dirty="0"/>
                        <a:t>  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US" sz="2400" dirty="0"/>
                        <a:t> Lowest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5447659"/>
                  </a:ext>
                </a:extLst>
              </a:tr>
              <a:tr h="53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Best in zigzag?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Green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>
                          <a:solidFill>
                            <a:srgbClr val="00B050"/>
                          </a:solidFill>
                        </a:rPr>
                        <a:t>✓</a:t>
                      </a:r>
                      <a:r>
                        <a:rPr lang="en-US" sz="2400" dirty="0"/>
                        <a:t> Highest robustness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211217"/>
                  </a:ext>
                </a:extLst>
              </a:tr>
              <a:tr h="53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Did CHROM improve robustness?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Not consistently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686313"/>
                  </a:ext>
                </a:extLst>
              </a:tr>
              <a:tr h="53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Same ranking?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0074710"/>
                  </a:ext>
                </a:extLst>
              </a:tr>
              <a:tr h="5327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Is CHROM justified as default?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1568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588979-374A-6837-E138-38DCE29D47C9}"/>
              </a:ext>
            </a:extLst>
          </p:cNvPr>
          <p:cNvSpPr txBox="1"/>
          <p:nvPr/>
        </p:nvSpPr>
        <p:spPr>
          <a:xfrm>
            <a:off x="641555" y="4572000"/>
            <a:ext cx="12021821" cy="508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CHROM may be useful as an optional method, but it is not justified as the default method based on our dataset.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B46DD-321A-67B2-5786-3B9E9BE02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78A9A0-FF56-AAC9-7E87-106C8B917D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36834"/>
            <a:ext cx="11400797" cy="32758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2800" dirty="0"/>
              <a:t>References</a:t>
            </a:r>
            <a:r>
              <a:rPr lang="fa-IR" sz="2800" dirty="0"/>
              <a:t>:</a:t>
            </a:r>
            <a:br>
              <a:rPr lang="en-US" sz="2800" dirty="0"/>
            </a:br>
            <a:br>
              <a:rPr lang="fa-IR" sz="2000" b="0" dirty="0"/>
            </a:br>
            <a:r>
              <a:rPr lang="en-US" sz="1800" b="0" dirty="0"/>
              <a:t>1. </a:t>
            </a:r>
            <a:r>
              <a:rPr lang="en-US" sz="1800" b="0" dirty="0" err="1"/>
              <a:t>Verkruysse</a:t>
            </a:r>
            <a:r>
              <a:rPr lang="en-US" sz="1800" b="0" dirty="0"/>
              <a:t>, W., </a:t>
            </a:r>
            <a:r>
              <a:rPr lang="en-US" sz="1800" b="0" dirty="0" err="1"/>
              <a:t>Svaasand</a:t>
            </a:r>
            <a:r>
              <a:rPr lang="en-US" sz="1800" b="0" dirty="0"/>
              <a:t>, L. O., &amp; Nelson, J. S. (2008). </a:t>
            </a:r>
            <a:r>
              <a:rPr lang="en-US" sz="1800" b="0" i="1" dirty="0"/>
              <a:t>Remote </a:t>
            </a:r>
            <a:r>
              <a:rPr lang="en-US" sz="1800" b="0" i="1" dirty="0" err="1"/>
              <a:t>plethysmographic</a:t>
            </a:r>
            <a:r>
              <a:rPr lang="en-US" sz="1800" b="0" i="1" dirty="0"/>
              <a:t> imaging using ambient light.</a:t>
            </a:r>
            <a:r>
              <a:rPr lang="en-US" sz="1800" b="0" dirty="0"/>
              <a:t> Optics Express. </a:t>
            </a:r>
            <a:br>
              <a:rPr lang="fa-IR" sz="1800" b="0" dirty="0"/>
            </a:br>
            <a:br>
              <a:rPr lang="en-US" sz="1800" b="0" dirty="0"/>
            </a:br>
            <a:r>
              <a:rPr lang="en-US" sz="1800" b="0" dirty="0"/>
              <a:t>2. Wang, W., den Brinker, A. C., </a:t>
            </a:r>
            <a:r>
              <a:rPr lang="en-US" sz="1800" b="0" dirty="0" err="1"/>
              <a:t>Stuijk</a:t>
            </a:r>
            <a:r>
              <a:rPr lang="en-US" sz="1800" b="0" dirty="0"/>
              <a:t>, S., &amp; de Haan, G. (2017). </a:t>
            </a:r>
            <a:r>
              <a:rPr lang="en-US" sz="1800" b="0" i="1" dirty="0"/>
              <a:t>Algorithmic Principles of Remote PPG.</a:t>
            </a:r>
            <a:r>
              <a:rPr lang="en-US" sz="1800" b="0" dirty="0"/>
              <a:t> IEEE Transactions on Biomedical Engineering. </a:t>
            </a:r>
            <a:br>
              <a:rPr lang="fa-IR" sz="1800" b="0" dirty="0"/>
            </a:br>
            <a:br>
              <a:rPr lang="en-US" sz="1800" b="0" dirty="0"/>
            </a:br>
            <a:r>
              <a:rPr lang="en-US" sz="1800" b="0" dirty="0"/>
              <a:t>3. de Haan, G., &amp; Jeanne, V. (2013). </a:t>
            </a:r>
            <a:r>
              <a:rPr lang="en-US" sz="1800" b="0" i="1" dirty="0"/>
              <a:t>Robust Pulse Rate From Chrominance-Based </a:t>
            </a:r>
            <a:r>
              <a:rPr lang="en-US" sz="1800" b="0" i="1" dirty="0" err="1"/>
              <a:t>rPPG</a:t>
            </a:r>
            <a:r>
              <a:rPr lang="en-US" sz="1800" b="0" i="1" dirty="0"/>
              <a:t>.</a:t>
            </a:r>
            <a:r>
              <a:rPr lang="en-US" sz="1800" b="0" dirty="0"/>
              <a:t> IEEE Transactions on Biomedical Engineering.</a:t>
            </a:r>
            <a:br>
              <a:rPr lang="fa-IR" sz="1800" b="0"/>
            </a:br>
            <a:endParaRPr lang="en-US" sz="2000" b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56518FB-155E-4412-272C-AE6BE78E59A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622023" y="6571498"/>
            <a:ext cx="183515" cy="114134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r>
              <a:rPr lang="en-US" spc="-25" dirty="0"/>
              <a:t>9</a:t>
            </a:r>
            <a:endParaRPr spc="-2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58ED1E6-208B-F875-8017-A565423E487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3363082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3440" y="3128010"/>
            <a:ext cx="52114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0" dirty="0">
                <a:latin typeface="Tempus Sans ITC"/>
                <a:cs typeface="Tempus Sans ITC"/>
              </a:rPr>
              <a:t>Thank</a:t>
            </a:r>
            <a:r>
              <a:rPr sz="3200" b="0" spc="-65" dirty="0">
                <a:latin typeface="Tempus Sans ITC"/>
                <a:cs typeface="Tempus Sans ITC"/>
              </a:rPr>
              <a:t> </a:t>
            </a:r>
            <a:r>
              <a:rPr sz="3200" b="0" dirty="0">
                <a:latin typeface="Tempus Sans ITC"/>
                <a:cs typeface="Tempus Sans ITC"/>
              </a:rPr>
              <a:t>you</a:t>
            </a:r>
            <a:r>
              <a:rPr sz="3200" b="0" spc="-35" dirty="0">
                <a:latin typeface="Tempus Sans ITC"/>
                <a:cs typeface="Tempus Sans ITC"/>
              </a:rPr>
              <a:t> </a:t>
            </a:r>
            <a:r>
              <a:rPr sz="3200" b="0" dirty="0">
                <a:latin typeface="Tempus Sans ITC"/>
                <a:cs typeface="Tempus Sans ITC"/>
              </a:rPr>
              <a:t>for</a:t>
            </a:r>
            <a:r>
              <a:rPr sz="3200" b="0" spc="-25" dirty="0">
                <a:latin typeface="Tempus Sans ITC"/>
                <a:cs typeface="Tempus Sans ITC"/>
              </a:rPr>
              <a:t> </a:t>
            </a:r>
            <a:r>
              <a:rPr sz="3200" b="0" dirty="0">
                <a:latin typeface="Tempus Sans ITC"/>
                <a:cs typeface="Tempus Sans ITC"/>
              </a:rPr>
              <a:t>your</a:t>
            </a:r>
            <a:r>
              <a:rPr sz="3200" b="0" spc="-50" dirty="0">
                <a:latin typeface="Tempus Sans ITC"/>
                <a:cs typeface="Tempus Sans ITC"/>
              </a:rPr>
              <a:t> </a:t>
            </a:r>
            <a:r>
              <a:rPr sz="3200" b="0" spc="-10" dirty="0">
                <a:latin typeface="Tempus Sans ITC"/>
                <a:cs typeface="Tempus Sans ITC"/>
              </a:rPr>
              <a:t>attention!</a:t>
            </a:r>
            <a:endParaRPr sz="3200">
              <a:latin typeface="Tempus Sans ITC"/>
              <a:cs typeface="Tempus Sans IT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spc="10" dirty="0"/>
              <a:t>Adaptive</a:t>
            </a:r>
            <a:r>
              <a:rPr spc="75" dirty="0"/>
              <a:t> </a:t>
            </a:r>
            <a:r>
              <a:rPr spc="10" dirty="0"/>
              <a:t>rPPG</a:t>
            </a:r>
            <a:r>
              <a:rPr spc="40" dirty="0"/>
              <a:t> </a:t>
            </a:r>
            <a:r>
              <a:rPr spc="10" dirty="0"/>
              <a:t>Signal</a:t>
            </a:r>
            <a:r>
              <a:rPr spc="30" dirty="0"/>
              <a:t> </a:t>
            </a:r>
            <a:r>
              <a:rPr spc="10" dirty="0"/>
              <a:t>Conditioning</a:t>
            </a:r>
            <a:r>
              <a:rPr spc="40" dirty="0"/>
              <a:t> </a:t>
            </a:r>
            <a:r>
              <a:rPr spc="-10" dirty="0"/>
              <a:t>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6266</TotalTime>
  <Words>562</Words>
  <Application>Microsoft Office PowerPoint</Application>
  <PresentationFormat>Widescreen</PresentationFormat>
  <Paragraphs>155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Tempus Sans ITC</vt:lpstr>
      <vt:lpstr>Office Theme</vt:lpstr>
      <vt:lpstr>Laboratory of Nearable Technologies for Health Data Science</vt:lpstr>
      <vt:lpstr>Project Pipeline </vt:lpstr>
      <vt:lpstr>FFT Spectrum Comparison of Green, POS and CHROM</vt:lpstr>
      <vt:lpstr>Green vs POS vs CHROM</vt:lpstr>
      <vt:lpstr>Stable Results</vt:lpstr>
      <vt:lpstr>Zigzag Results</vt:lpstr>
      <vt:lpstr>PowerPoint Presentation</vt:lpstr>
      <vt:lpstr>Conclusion</vt:lpstr>
      <vt:lpstr>References:  1. Verkruysse, W., Svaasand, L. O., &amp; Nelson, J. S. (2008). Remote plethysmographic imaging using ambient light. Optics Express.   2. Wang, W., den Brinker, A. C., Stuijk, S., &amp; de Haan, G. (2017). Algorithmic Principles of Remote PPG. IEEE Transactions on Biomedical Engineering.   3. de Haan, G., &amp; Jeanne, V. (2013). Robust Pulse Rate From Chrominance-Based rPPG. IEEE Transactions on Biomedical Engineering. 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Asal Abbas Nejad Fard</cp:lastModifiedBy>
  <cp:revision>12</cp:revision>
  <dcterms:created xsi:type="dcterms:W3CDTF">2026-07-10T22:42:42Z</dcterms:created>
  <dcterms:modified xsi:type="dcterms:W3CDTF">2026-07-24T04:32:41Z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2026-06-26T00:00:00Z</vt:filetime>
  </property>
  <property fmtid="{D5CDD505-2E9C-101B-9397-08002B2CF9AE}" pid="3" name="Creator">
    <vt:lpwstr>CloudConvert                 </vt:lpwstr>
  </property>
  <property fmtid="{D5CDD505-2E9C-101B-9397-08002B2CF9AE}" pid="4" name="LastSaved">
    <vt:filetime>2026-07-10T00:00:00Z</vt:filetime>
  </property>
  <property fmtid="{D5CDD505-2E9C-101B-9397-08002B2CF9AE}" pid="5" name="Producer">
    <vt:lpwstr>3-Heights(TM) PDF Security Shell 4.8.25.2 (http://www.pdf-tools.com)</vt:lpwstr>
  </property>
</Properties>
</file>